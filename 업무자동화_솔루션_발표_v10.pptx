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3" r:id="rId5"/>
    <p:sldId id="265" r:id="rId6"/>
    <p:sldId id="271" r:id="rId7"/>
    <p:sldId id="267" r:id="rId8"/>
    <p:sldId id="261" r:id="rId9"/>
    <p:sldId id="274" r:id="rId10"/>
    <p:sldId id="275" r:id="rId11"/>
    <p:sldId id="276" r:id="rId12"/>
    <p:sldId id="27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65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093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657600"/>
            <a:ext cx="2286000" cy="228600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54864" cy="2377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801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업무 자동화 솔루션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Automation · </a:t>
            </a:r>
            <a:r>
              <a:rPr lang="ko-KR" alt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첨부자료 자동화</a:t>
            </a: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300" dirty="0" err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</a:t>
            </a: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점검 · 실거래가 DB · 세금계산서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업무를 줄이고, 정확성을 높이는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 워크플로우를 소개합니다.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645920"/>
            <a:ext cx="822960" cy="8229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4800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Workflow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868680"/>
            <a:ext cx="64008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905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987552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9052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Automation (SignalAI)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011680" y="11887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크기 자르기 · Excel → PDF 자동변환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" y="1554480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1554480"/>
            <a:ext cx="64008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1591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167335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11680" y="15910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첨부자료 자동화(갑지 생성 &amp; PDF 통합 &amp; 책갈피 자동 생성)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011680" y="18745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 순회 · 표지 생성 · PDF/Excel 합치기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31520" y="2240280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2240280"/>
            <a:ext cx="64008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4"/>
          <p:cNvSpPr/>
          <p:nvPr/>
        </p:nvSpPr>
        <p:spPr>
          <a:xfrm>
            <a:off x="1005840" y="2276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8760" y="2359152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011680" y="22768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수신자료 파일 점검 자동화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2011680" y="25603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 err="1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</a:t>
            </a:r>
            <a:r>
              <a:rPr lang="en-US" altLang="ko-KR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00" dirty="0" err="1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순회</a:t>
            </a:r>
            <a:r>
              <a:rPr lang="en-US" altLang="ko-KR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000" dirty="0" err="1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</a:t>
            </a: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열림·손상</a:t>
            </a: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점검 · </a:t>
            </a:r>
            <a:r>
              <a:rPr lang="en-US" sz="1000" dirty="0" err="1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</a:t>
            </a: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00" dirty="0" err="1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양식</a:t>
            </a:r>
            <a:r>
              <a:rPr lang="en-US" altLang="ko-KR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00" dirty="0" err="1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</a:t>
            </a:r>
            <a:r>
              <a:rPr lang="en-US" altLang="ko-KR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00" dirty="0" err="1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31520" y="2926080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31520" y="2926080"/>
            <a:ext cx="64008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19"/>
          <p:cNvSpPr/>
          <p:nvPr/>
        </p:nvSpPr>
        <p:spPr>
          <a:xfrm>
            <a:off x="1005840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8760" y="3044952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011680" y="29626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세금계산서 PDF 자동 추출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2011680" y="32461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 err="1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</a:t>
            </a:r>
            <a:r>
              <a:rPr lang="en-US" altLang="ko-KR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00" dirty="0" err="1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순회</a:t>
            </a:r>
            <a:r>
              <a:rPr lang="en-US" altLang="ko-KR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000" dirty="0" err="1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PDF에서</a:t>
            </a: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세금계산서</a:t>
            </a: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인식 및 </a:t>
            </a:r>
            <a:r>
              <a:rPr lang="en-US" sz="1000" dirty="0" err="1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추출</a:t>
            </a: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OCR · 엑셀 양식 자동 입력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731520" y="3611880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31520" y="3611880"/>
            <a:ext cx="64008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4"/>
          <p:cNvSpPr/>
          <p:nvPr/>
        </p:nvSpPr>
        <p:spPr>
          <a:xfrm>
            <a:off x="100584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0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8760" y="3730752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2011680" y="36484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실거래가 DB 구축 &amp; 리포트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2011680" y="39319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</a:t>
            </a:r>
            <a:r>
              <a:rPr lang="ko-KR" alt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 </a:t>
            </a: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10년치 </a:t>
            </a:r>
            <a:r>
              <a:rPr lang="en-US" sz="1000" dirty="0" err="1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매매</a:t>
            </a: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전수 수집 · 엑셀 분석 보고서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731520" y="4297680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31520" y="4297680"/>
            <a:ext cx="64008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6" name="Text 29"/>
          <p:cNvSpPr/>
          <p:nvPr/>
        </p:nvSpPr>
        <p:spPr>
          <a:xfrm>
            <a:off x="100584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0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8760" y="4416552"/>
            <a:ext cx="292608" cy="29260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2011680" y="43342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한글 누름틀 자동화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2011680" y="46177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 데이터 → 한글 문서 자동 입력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Line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BefBg"/>
          <p:cNvSpPr/>
          <p:nvPr/>
        </p:nvSpPr>
        <p:spPr>
          <a:xfrm>
            <a:off x="731520" y="1600000"/>
            <a:ext cx="3612960" cy="2200000"/>
          </a:xfrm>
          <a:prstGeom prst="rect">
            <a:avLst/>
          </a:prstGeom>
          <a:solidFill>
            <a:srgbClr val="FFF0EE"/>
          </a:solidFill>
          <a:ln w="12700">
            <a:solidFill>
              <a:srgbClr val="C0392B"/>
            </a:solidFill>
          </a:ln>
        </p:spPr>
      </p:sp>
      <p:sp>
        <p:nvSpPr>
          <p:cNvPr id="11" name="BefBar"/>
          <p:cNvSpPr/>
          <p:nvPr/>
        </p:nvSpPr>
        <p:spPr>
          <a:xfrm>
            <a:off x="731520" y="1600000"/>
            <a:ext cx="361296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BefLbl"/>
          <p:cNvSpPr/>
          <p:nvPr/>
        </p:nvSpPr>
        <p:spPr>
          <a:xfrm>
            <a:off x="811520" y="1680000"/>
            <a:ext cx="345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1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수작업</a:t>
            </a:r>
          </a:p>
        </p:txBody>
      </p:sp>
      <p:sp>
        <p:nvSpPr>
          <p:cNvPr id="13" name="BefTime"/>
          <p:cNvSpPr/>
          <p:nvPr/>
        </p:nvSpPr>
        <p:spPr>
          <a:xfrm>
            <a:off x="811520" y="1940000"/>
            <a:ext cx="345296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26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파일당 수 분</a:t>
            </a:r>
          </a:p>
        </p:txBody>
      </p:sp>
      <p:sp>
        <p:nvSpPr>
          <p:cNvPr id="14" name="BefDesc"/>
          <p:cNvSpPr/>
          <p:nvPr/>
        </p:nvSpPr>
        <p:spPr>
          <a:xfrm>
            <a:off x="811520" y="2460000"/>
            <a:ext cx="3452960" cy="1250000"/>
          </a:xfrm>
          <a:prstGeom prst="rect">
            <a:avLst/>
          </a:prstGeom>
          <a:noFill/>
          <a:ln/>
        </p:spPr>
        <p:txBody>
          <a:bodyPr wrap="square" lIns="0" tIns="4572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ko-KR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Excel·PDF 파일을 하나씩 열어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ko-KR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좌표 설정 후 수동 크롭·변환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ko-KR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수백 개면 반나절 이상 소요</a:t>
            </a:r>
          </a:p>
        </p:txBody>
      </p:sp>
      <p:sp>
        <p:nvSpPr>
          <p:cNvPr id="19" name="Arrow"/>
          <p:cNvSpPr/>
          <p:nvPr/>
        </p:nvSpPr>
        <p:spPr>
          <a:xfrm>
            <a:off x="4440480" y="2460000"/>
            <a:ext cx="263520" cy="400000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20" name="AftBg"/>
          <p:cNvSpPr/>
          <p:nvPr/>
        </p:nvSpPr>
        <p:spPr>
          <a:xfrm>
            <a:off x="4800000" y="1600000"/>
            <a:ext cx="3612960" cy="2200000"/>
          </a:xfrm>
          <a:prstGeom prst="rect">
            <a:avLst/>
          </a:prstGeom>
          <a:solidFill>
            <a:srgbClr val="F0FAFA"/>
          </a:solidFill>
          <a:ln w="12700">
            <a:solidFill>
              <a:srgbClr val="028090"/>
            </a:solidFill>
          </a:ln>
        </p:spPr>
      </p:sp>
      <p:sp>
        <p:nvSpPr>
          <p:cNvPr id="21" name="AftBar"/>
          <p:cNvSpPr/>
          <p:nvPr/>
        </p:nvSpPr>
        <p:spPr>
          <a:xfrm>
            <a:off x="4800000" y="1600000"/>
            <a:ext cx="36129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AftLbl"/>
          <p:cNvSpPr/>
          <p:nvPr/>
        </p:nvSpPr>
        <p:spPr>
          <a:xfrm>
            <a:off x="4880000" y="1680000"/>
            <a:ext cx="345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자동화</a:t>
            </a:r>
          </a:p>
        </p:txBody>
      </p:sp>
      <p:sp>
        <p:nvSpPr>
          <p:cNvPr id="23" name="AftTime"/>
          <p:cNvSpPr/>
          <p:nvPr/>
        </p:nvSpPr>
        <p:spPr>
          <a:xfrm>
            <a:off x="4880000" y="1940000"/>
            <a:ext cx="345296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폴더 경로만 설정</a:t>
            </a:r>
          </a:p>
        </p:txBody>
      </p:sp>
      <p:sp>
        <p:nvSpPr>
          <p:cNvPr id="24" name="AftDesc"/>
          <p:cNvSpPr/>
          <p:nvPr/>
        </p:nvSpPr>
        <p:spPr>
          <a:xfrm>
            <a:off x="4880000" y="2460000"/>
            <a:ext cx="3452960" cy="1250000"/>
          </a:xfrm>
          <a:prstGeom prst="rect">
            <a:avLst/>
          </a:prstGeom>
          <a:noFill/>
          <a:ln/>
        </p:spPr>
        <p:txBody>
          <a:bodyPr wrap="square" lIns="0" tIns="4572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ko-KR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 내 전체 파일 일괄 처리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ko-KR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서식·품질 그대로 유지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ko-KR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수백 건도 수 분 내 완료</a:t>
            </a:r>
          </a:p>
        </p:txBody>
      </p:sp>
      <p:sp>
        <p:nvSpPr>
          <p:cNvPr id="30" name="Divider"/>
          <p:cNvSpPr/>
          <p:nvPr/>
        </p:nvSpPr>
        <p:spPr>
          <a:xfrm>
            <a:off x="731520" y="3900000"/>
            <a:ext cx="7681440" cy="18288"/>
          </a:xfrm>
          <a:prstGeom prst="rect">
            <a:avLst/>
          </a:prstGeom>
          <a:solidFill>
            <a:srgbClr val="E8F0F2"/>
          </a:solidFill>
          <a:ln/>
        </p:spPr>
      </p:sp>
      <p:sp>
        <p:nvSpPr>
          <p:cNvPr id="40" name="Stat0"/>
          <p:cNvSpPr/>
          <p:nvPr/>
        </p:nvSpPr>
        <p:spPr>
          <a:xfrm>
            <a:off x="731520" y="3960000"/>
            <a:ext cx="2523904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수백 건</a:t>
            </a:r>
          </a:p>
        </p:txBody>
      </p:sp>
      <p:sp>
        <p:nvSpPr>
          <p:cNvPr id="41" name="SLine0"/>
          <p:cNvSpPr/>
          <p:nvPr/>
        </p:nvSpPr>
        <p:spPr>
          <a:xfrm>
            <a:off x="822960" y="4610000"/>
            <a:ext cx="2341024" cy="9144"/>
          </a:xfrm>
          <a:prstGeom prst="rect">
            <a:avLst/>
          </a:prstGeom>
          <a:solidFill>
            <a:srgbClr val="E8F0F2"/>
          </a:solidFill>
          <a:ln/>
        </p:spPr>
      </p:sp>
      <p:sp>
        <p:nvSpPr>
          <p:cNvPr id="42" name="Lbl0"/>
          <p:cNvSpPr/>
          <p:nvPr/>
        </p:nvSpPr>
        <p:spPr>
          <a:xfrm>
            <a:off x="731520" y="4640000"/>
            <a:ext cx="2523904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일괄 처리</a:t>
            </a:r>
          </a:p>
        </p:txBody>
      </p:sp>
      <p:sp>
        <p:nvSpPr>
          <p:cNvPr id="43" name="Stat1"/>
          <p:cNvSpPr/>
          <p:nvPr/>
        </p:nvSpPr>
        <p:spPr>
          <a:xfrm>
            <a:off x="3310288" y="3960000"/>
            <a:ext cx="2523904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 건</a:t>
            </a:r>
          </a:p>
        </p:txBody>
      </p:sp>
      <p:sp>
        <p:nvSpPr>
          <p:cNvPr id="44" name="SLine1"/>
          <p:cNvSpPr/>
          <p:nvPr/>
        </p:nvSpPr>
        <p:spPr>
          <a:xfrm>
            <a:off x="3401728" y="4610000"/>
            <a:ext cx="2341024" cy="9144"/>
          </a:xfrm>
          <a:prstGeom prst="rect">
            <a:avLst/>
          </a:prstGeom>
          <a:solidFill>
            <a:srgbClr val="E8F0F2"/>
          </a:solidFill>
          <a:ln/>
        </p:spPr>
      </p:sp>
      <p:sp>
        <p:nvSpPr>
          <p:cNvPr id="45" name="Lbl1"/>
          <p:cNvSpPr/>
          <p:nvPr/>
        </p:nvSpPr>
        <p:spPr>
          <a:xfrm>
            <a:off x="3310288" y="4640000"/>
            <a:ext cx="2523904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 작업</a:t>
            </a:r>
          </a:p>
        </p:txBody>
      </p:sp>
      <p:sp>
        <p:nvSpPr>
          <p:cNvPr id="46" name="Stat2"/>
          <p:cNvSpPr/>
          <p:nvPr/>
        </p:nvSpPr>
        <p:spPr>
          <a:xfrm>
            <a:off x="5889056" y="3960000"/>
            <a:ext cx="2523904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</a:p>
        </p:txBody>
      </p:sp>
      <p:sp>
        <p:nvSpPr>
          <p:cNvPr id="47" name="SLine2"/>
          <p:cNvSpPr/>
          <p:nvPr/>
        </p:nvSpPr>
        <p:spPr>
          <a:xfrm>
            <a:off x="5980496" y="4610000"/>
            <a:ext cx="2341024" cy="9144"/>
          </a:xfrm>
          <a:prstGeom prst="rect">
            <a:avLst/>
          </a:prstGeom>
          <a:solidFill>
            <a:srgbClr val="E8F0F2"/>
          </a:solidFill>
          <a:ln/>
        </p:spPr>
      </p:sp>
      <p:sp>
        <p:nvSpPr>
          <p:cNvPr id="48" name="Lbl2"/>
          <p:cNvSpPr/>
          <p:nvPr/>
        </p:nvSpPr>
        <p:spPr>
          <a:xfrm>
            <a:off x="5889056" y="4640000"/>
            <a:ext cx="2523904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서식 품질 유지</a:t>
            </a: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A5159EC5-CEB5-1499-62A4-E707BABA48AB}"/>
              </a:ext>
            </a:extLst>
          </p:cNvPr>
          <p:cNvSpPr/>
          <p:nvPr/>
        </p:nvSpPr>
        <p:spPr>
          <a:xfrm>
            <a:off x="731520" y="868680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498F6A0F-EA08-D577-2EEE-C679EEF785E7}"/>
              </a:ext>
            </a:extLst>
          </p:cNvPr>
          <p:cNvSpPr/>
          <p:nvPr/>
        </p:nvSpPr>
        <p:spPr>
          <a:xfrm>
            <a:off x="731520" y="868680"/>
            <a:ext cx="64008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BDD41DAF-F73F-C7A4-73E0-E610B5BEFABF}"/>
              </a:ext>
            </a:extLst>
          </p:cNvPr>
          <p:cNvSpPr/>
          <p:nvPr/>
        </p:nvSpPr>
        <p:spPr>
          <a:xfrm>
            <a:off x="1005840" y="905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081075A6-8FCE-A570-51AA-56B14E1AB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987552"/>
            <a:ext cx="292608" cy="292608"/>
          </a:xfrm>
          <a:prstGeom prst="rect">
            <a:avLst/>
          </a:prstGeom>
        </p:spPr>
      </p:pic>
      <p:sp>
        <p:nvSpPr>
          <p:cNvPr id="15" name="Text 5">
            <a:extLst>
              <a:ext uri="{FF2B5EF4-FFF2-40B4-BE49-F238E27FC236}">
                <a16:creationId xmlns:a16="http://schemas.microsoft.com/office/drawing/2014/main" id="{5A40195A-9BF0-DBF6-6A8B-185A62563508}"/>
              </a:ext>
            </a:extLst>
          </p:cNvPr>
          <p:cNvSpPr/>
          <p:nvPr/>
        </p:nvSpPr>
        <p:spPr>
          <a:xfrm>
            <a:off x="2011680" y="9052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Automation (SignalAI)</a:t>
            </a:r>
            <a:endParaRPr lang="en-US" sz="15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794F71E3-978E-ECCB-9A6F-B4AC53A40CEB}"/>
              </a:ext>
            </a:extLst>
          </p:cNvPr>
          <p:cNvSpPr/>
          <p:nvPr/>
        </p:nvSpPr>
        <p:spPr>
          <a:xfrm>
            <a:off x="2011680" y="11887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크기 자르기 · Excel → PDF 자동변환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Line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BefBg"/>
          <p:cNvSpPr/>
          <p:nvPr/>
        </p:nvSpPr>
        <p:spPr>
          <a:xfrm>
            <a:off x="731520" y="1600000"/>
            <a:ext cx="3612960" cy="2200000"/>
          </a:xfrm>
          <a:prstGeom prst="rect">
            <a:avLst/>
          </a:prstGeom>
          <a:solidFill>
            <a:srgbClr val="FFF0EE"/>
          </a:solidFill>
          <a:ln w="12700">
            <a:solidFill>
              <a:srgbClr val="C0392B"/>
            </a:solidFill>
          </a:ln>
        </p:spPr>
      </p:sp>
      <p:sp>
        <p:nvSpPr>
          <p:cNvPr id="11" name="BefBar"/>
          <p:cNvSpPr/>
          <p:nvPr/>
        </p:nvSpPr>
        <p:spPr>
          <a:xfrm>
            <a:off x="731520" y="1600000"/>
            <a:ext cx="361296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BefLbl"/>
          <p:cNvSpPr/>
          <p:nvPr/>
        </p:nvSpPr>
        <p:spPr>
          <a:xfrm>
            <a:off x="811520" y="1680000"/>
            <a:ext cx="345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1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수작업</a:t>
            </a:r>
          </a:p>
        </p:txBody>
      </p:sp>
      <p:sp>
        <p:nvSpPr>
          <p:cNvPr id="13" name="BefTime"/>
          <p:cNvSpPr/>
          <p:nvPr/>
        </p:nvSpPr>
        <p:spPr>
          <a:xfrm>
            <a:off x="811520" y="1940000"/>
            <a:ext cx="345296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26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2명 × 2일</a:t>
            </a:r>
          </a:p>
        </p:txBody>
      </p:sp>
      <p:sp>
        <p:nvSpPr>
          <p:cNvPr id="14" name="BefDesc"/>
          <p:cNvSpPr/>
          <p:nvPr/>
        </p:nvSpPr>
        <p:spPr>
          <a:xfrm>
            <a:off x="811520" y="2460000"/>
            <a:ext cx="3452960" cy="1250000"/>
          </a:xfrm>
          <a:prstGeom prst="rect">
            <a:avLst/>
          </a:prstGeom>
          <a:noFill/>
          <a:ln/>
        </p:spPr>
        <p:txBody>
          <a:bodyPr wrap="square" lIns="0" tIns="4572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ko-KR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폴더별 갑지 수작성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ko-KR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하나씩 열어 순서 맞춰 병합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ko-KR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약 32시간 (2인 기준)</a:t>
            </a:r>
          </a:p>
        </p:txBody>
      </p:sp>
      <p:sp>
        <p:nvSpPr>
          <p:cNvPr id="19" name="Arrow"/>
          <p:cNvSpPr/>
          <p:nvPr/>
        </p:nvSpPr>
        <p:spPr>
          <a:xfrm>
            <a:off x="4440480" y="2460000"/>
            <a:ext cx="263520" cy="400000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20" name="AftBg"/>
          <p:cNvSpPr/>
          <p:nvPr/>
        </p:nvSpPr>
        <p:spPr>
          <a:xfrm>
            <a:off x="4800000" y="1600000"/>
            <a:ext cx="3612960" cy="2200000"/>
          </a:xfrm>
          <a:prstGeom prst="rect">
            <a:avLst/>
          </a:prstGeom>
          <a:solidFill>
            <a:srgbClr val="F0FAFA"/>
          </a:solidFill>
          <a:ln w="12700">
            <a:solidFill>
              <a:srgbClr val="028090"/>
            </a:solidFill>
          </a:ln>
        </p:spPr>
      </p:sp>
      <p:sp>
        <p:nvSpPr>
          <p:cNvPr id="21" name="AftBar"/>
          <p:cNvSpPr/>
          <p:nvPr/>
        </p:nvSpPr>
        <p:spPr>
          <a:xfrm>
            <a:off x="4800000" y="1600000"/>
            <a:ext cx="36129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AftLbl"/>
          <p:cNvSpPr/>
          <p:nvPr/>
        </p:nvSpPr>
        <p:spPr>
          <a:xfrm>
            <a:off x="4880000" y="1680000"/>
            <a:ext cx="345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자동화</a:t>
            </a:r>
          </a:p>
        </p:txBody>
      </p:sp>
      <p:sp>
        <p:nvSpPr>
          <p:cNvPr id="23" name="AftTime"/>
          <p:cNvSpPr/>
          <p:nvPr/>
        </p:nvSpPr>
        <p:spPr>
          <a:xfrm>
            <a:off x="4880000" y="1940000"/>
            <a:ext cx="345296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반나절 미만</a:t>
            </a:r>
          </a:p>
        </p:txBody>
      </p:sp>
      <p:sp>
        <p:nvSpPr>
          <p:cNvPr id="24" name="AftDesc"/>
          <p:cNvSpPr/>
          <p:nvPr/>
        </p:nvSpPr>
        <p:spPr>
          <a:xfrm>
            <a:off x="4880000" y="2460000"/>
            <a:ext cx="3452960" cy="1250000"/>
          </a:xfrm>
          <a:prstGeom prst="rect">
            <a:avLst/>
          </a:prstGeom>
          <a:noFill/>
          <a:ln/>
        </p:spPr>
        <p:txBody>
          <a:bodyPr wrap="square" lIns="0" tIns="4572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ko-KR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폴더명 기반 갑지 자동 생성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ko-KR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→ PDF 변환 후 순서대로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ko-KR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PDF로 자동 병합</a:t>
            </a:r>
          </a:p>
        </p:txBody>
      </p:sp>
      <p:sp>
        <p:nvSpPr>
          <p:cNvPr id="30" name="Divider"/>
          <p:cNvSpPr/>
          <p:nvPr/>
        </p:nvSpPr>
        <p:spPr>
          <a:xfrm>
            <a:off x="731520" y="3900000"/>
            <a:ext cx="7681440" cy="18288"/>
          </a:xfrm>
          <a:prstGeom prst="rect">
            <a:avLst/>
          </a:prstGeom>
          <a:solidFill>
            <a:srgbClr val="E8F0F2"/>
          </a:solidFill>
          <a:ln/>
        </p:spPr>
      </p:sp>
      <p:sp>
        <p:nvSpPr>
          <p:cNvPr id="40" name="Stat0"/>
          <p:cNvSpPr/>
          <p:nvPr/>
        </p:nvSpPr>
        <p:spPr>
          <a:xfrm>
            <a:off x="731520" y="3960000"/>
            <a:ext cx="2523904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90%↓</a:t>
            </a:r>
          </a:p>
        </p:txBody>
      </p:sp>
      <p:sp>
        <p:nvSpPr>
          <p:cNvPr id="41" name="SLine0"/>
          <p:cNvSpPr/>
          <p:nvPr/>
        </p:nvSpPr>
        <p:spPr>
          <a:xfrm>
            <a:off x="822960" y="4610000"/>
            <a:ext cx="2341024" cy="9144"/>
          </a:xfrm>
          <a:prstGeom prst="rect">
            <a:avLst/>
          </a:prstGeom>
          <a:solidFill>
            <a:srgbClr val="E8F0F2"/>
          </a:solidFill>
          <a:ln/>
        </p:spPr>
      </p:sp>
      <p:sp>
        <p:nvSpPr>
          <p:cNvPr id="42" name="Lbl0"/>
          <p:cNvSpPr/>
          <p:nvPr/>
        </p:nvSpPr>
        <p:spPr>
          <a:xfrm>
            <a:off x="731520" y="4640000"/>
            <a:ext cx="2523904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수작업 시간 절감</a:t>
            </a:r>
          </a:p>
        </p:txBody>
      </p:sp>
      <p:sp>
        <p:nvSpPr>
          <p:cNvPr id="43" name="Stat1"/>
          <p:cNvSpPr/>
          <p:nvPr/>
        </p:nvSpPr>
        <p:spPr>
          <a:xfrm>
            <a:off x="3310288" y="3960000"/>
            <a:ext cx="2523904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</a:p>
        </p:txBody>
      </p:sp>
      <p:sp>
        <p:nvSpPr>
          <p:cNvPr id="44" name="SLine1"/>
          <p:cNvSpPr/>
          <p:nvPr/>
        </p:nvSpPr>
        <p:spPr>
          <a:xfrm>
            <a:off x="3401728" y="4610000"/>
            <a:ext cx="2341024" cy="9144"/>
          </a:xfrm>
          <a:prstGeom prst="rect">
            <a:avLst/>
          </a:prstGeom>
          <a:solidFill>
            <a:srgbClr val="E8F0F2"/>
          </a:solidFill>
          <a:ln/>
        </p:spPr>
      </p:sp>
      <p:sp>
        <p:nvSpPr>
          <p:cNvPr id="45" name="Lbl1"/>
          <p:cNvSpPr/>
          <p:nvPr/>
        </p:nvSpPr>
        <p:spPr>
          <a:xfrm>
            <a:off x="3310288" y="4640000"/>
            <a:ext cx="2523904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누락 방지</a:t>
            </a:r>
          </a:p>
        </p:txBody>
      </p:sp>
      <p:sp>
        <p:nvSpPr>
          <p:cNvPr id="46" name="Stat2"/>
          <p:cNvSpPr/>
          <p:nvPr/>
        </p:nvSpPr>
        <p:spPr>
          <a:xfrm>
            <a:off x="5889056" y="3960000"/>
            <a:ext cx="2523904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일관성</a:t>
            </a:r>
          </a:p>
        </p:txBody>
      </p:sp>
      <p:sp>
        <p:nvSpPr>
          <p:cNvPr id="47" name="SLine2"/>
          <p:cNvSpPr/>
          <p:nvPr/>
        </p:nvSpPr>
        <p:spPr>
          <a:xfrm>
            <a:off x="5980496" y="4610000"/>
            <a:ext cx="2341024" cy="9144"/>
          </a:xfrm>
          <a:prstGeom prst="rect">
            <a:avLst/>
          </a:prstGeom>
          <a:solidFill>
            <a:srgbClr val="E8F0F2"/>
          </a:solidFill>
          <a:ln/>
        </p:spPr>
      </p:sp>
      <p:sp>
        <p:nvSpPr>
          <p:cNvPr id="48" name="Lbl2"/>
          <p:cNvSpPr/>
          <p:nvPr/>
        </p:nvSpPr>
        <p:spPr>
          <a:xfrm>
            <a:off x="5889056" y="4640000"/>
            <a:ext cx="2523904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표지 서식 통일</a:t>
            </a:r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0B85C649-DF04-AF78-84CC-8A9E7A9ACE76}"/>
              </a:ext>
            </a:extLst>
          </p:cNvPr>
          <p:cNvSpPr/>
          <p:nvPr/>
        </p:nvSpPr>
        <p:spPr>
          <a:xfrm>
            <a:off x="731520" y="849472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A337DB32-9A14-FFDB-2AC5-59AE64F0344E}"/>
              </a:ext>
            </a:extLst>
          </p:cNvPr>
          <p:cNvSpPr/>
          <p:nvPr/>
        </p:nvSpPr>
        <p:spPr>
          <a:xfrm>
            <a:off x="731520" y="849472"/>
            <a:ext cx="64008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EEF710C4-7437-F8C9-B2AB-DBE80D15D720}"/>
              </a:ext>
            </a:extLst>
          </p:cNvPr>
          <p:cNvSpPr/>
          <p:nvPr/>
        </p:nvSpPr>
        <p:spPr>
          <a:xfrm>
            <a:off x="1005840" y="886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5745A085-C2B8-31AC-5360-A69F51440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968344"/>
            <a:ext cx="292608" cy="292608"/>
          </a:xfrm>
          <a:prstGeom prst="rect">
            <a:avLst/>
          </a:prstGeom>
        </p:spPr>
      </p:pic>
      <p:sp>
        <p:nvSpPr>
          <p:cNvPr id="15" name="Text 10">
            <a:extLst>
              <a:ext uri="{FF2B5EF4-FFF2-40B4-BE49-F238E27FC236}">
                <a16:creationId xmlns:a16="http://schemas.microsoft.com/office/drawing/2014/main" id="{165B8E59-B820-ECE2-9C1F-DFB0A1AC1137}"/>
              </a:ext>
            </a:extLst>
          </p:cNvPr>
          <p:cNvSpPr/>
          <p:nvPr/>
        </p:nvSpPr>
        <p:spPr>
          <a:xfrm>
            <a:off x="2011680" y="886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첨부자료 자동화(갑지 생성 &amp; PDF 통합 &amp; 책갈피 자동 생성)</a:t>
            </a:r>
            <a:endParaRPr lang="en-US" sz="15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87AA36E0-B795-A745-59A3-FC08304B8CD7}"/>
              </a:ext>
            </a:extLst>
          </p:cNvPr>
          <p:cNvSpPr/>
          <p:nvPr/>
        </p:nvSpPr>
        <p:spPr>
          <a:xfrm>
            <a:off x="2011680" y="116951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 순회 · 표지 생성 · PDF/Excel 합치기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Line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BefBg"/>
          <p:cNvSpPr/>
          <p:nvPr/>
        </p:nvSpPr>
        <p:spPr>
          <a:xfrm>
            <a:off x="731520" y="1600000"/>
            <a:ext cx="3612960" cy="2200000"/>
          </a:xfrm>
          <a:prstGeom prst="rect">
            <a:avLst/>
          </a:prstGeom>
          <a:solidFill>
            <a:srgbClr val="FFF0EE"/>
          </a:solidFill>
          <a:ln w="12700">
            <a:solidFill>
              <a:srgbClr val="C0392B"/>
            </a:solidFill>
          </a:ln>
        </p:spPr>
      </p:sp>
      <p:sp>
        <p:nvSpPr>
          <p:cNvPr id="11" name="BefBar"/>
          <p:cNvSpPr/>
          <p:nvPr/>
        </p:nvSpPr>
        <p:spPr>
          <a:xfrm>
            <a:off x="731520" y="1600000"/>
            <a:ext cx="361296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BefLbl"/>
          <p:cNvSpPr/>
          <p:nvPr/>
        </p:nvSpPr>
        <p:spPr>
          <a:xfrm>
            <a:off x="811520" y="1680000"/>
            <a:ext cx="345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1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수작업</a:t>
            </a:r>
          </a:p>
        </p:txBody>
      </p:sp>
      <p:sp>
        <p:nvSpPr>
          <p:cNvPr id="13" name="BefTime"/>
          <p:cNvSpPr/>
          <p:nvPr/>
        </p:nvSpPr>
        <p:spPr>
          <a:xfrm>
            <a:off x="811520" y="1940000"/>
            <a:ext cx="345296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26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파일 수 × 수 분</a:t>
            </a:r>
          </a:p>
        </p:txBody>
      </p:sp>
      <p:sp>
        <p:nvSpPr>
          <p:cNvPr id="14" name="BefDesc"/>
          <p:cNvSpPr/>
          <p:nvPr/>
        </p:nvSpPr>
        <p:spPr>
          <a:xfrm>
            <a:off x="811520" y="2460000"/>
            <a:ext cx="3452960" cy="1250000"/>
          </a:xfrm>
          <a:prstGeom prst="rect">
            <a:avLst/>
          </a:prstGeom>
          <a:noFill/>
          <a:ln/>
        </p:spPr>
        <p:txBody>
          <a:bodyPr wrap="square" lIns="0" tIns="4572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ko-KR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수백~수천 개 파일을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ko-KR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하나씩 직접 열어 손상 여부 확인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ko-KR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누락·실수 발생 위험 높음</a:t>
            </a:r>
          </a:p>
        </p:txBody>
      </p:sp>
      <p:sp>
        <p:nvSpPr>
          <p:cNvPr id="19" name="Arrow"/>
          <p:cNvSpPr/>
          <p:nvPr/>
        </p:nvSpPr>
        <p:spPr>
          <a:xfrm>
            <a:off x="4440480" y="2460000"/>
            <a:ext cx="263520" cy="400000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20" name="AftBg"/>
          <p:cNvSpPr/>
          <p:nvPr/>
        </p:nvSpPr>
        <p:spPr>
          <a:xfrm>
            <a:off x="4800000" y="1600000"/>
            <a:ext cx="3612960" cy="2200000"/>
          </a:xfrm>
          <a:prstGeom prst="rect">
            <a:avLst/>
          </a:prstGeom>
          <a:solidFill>
            <a:srgbClr val="F0FAFA"/>
          </a:solidFill>
          <a:ln w="12700">
            <a:solidFill>
              <a:srgbClr val="028090"/>
            </a:solidFill>
          </a:ln>
        </p:spPr>
      </p:sp>
      <p:sp>
        <p:nvSpPr>
          <p:cNvPr id="21" name="AftBar"/>
          <p:cNvSpPr/>
          <p:nvPr/>
        </p:nvSpPr>
        <p:spPr>
          <a:xfrm>
            <a:off x="4800000" y="1600000"/>
            <a:ext cx="36129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AftLbl"/>
          <p:cNvSpPr/>
          <p:nvPr/>
        </p:nvSpPr>
        <p:spPr>
          <a:xfrm>
            <a:off x="4880000" y="1680000"/>
            <a:ext cx="345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자동화</a:t>
            </a:r>
          </a:p>
        </p:txBody>
      </p:sp>
      <p:sp>
        <p:nvSpPr>
          <p:cNvPr id="23" name="AftTime"/>
          <p:cNvSpPr/>
          <p:nvPr/>
        </p:nvSpPr>
        <p:spPr>
          <a:xfrm>
            <a:off x="4880000" y="1940000"/>
            <a:ext cx="345296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경로 설정만으로 즉시</a:t>
            </a:r>
          </a:p>
        </p:txBody>
      </p:sp>
      <p:sp>
        <p:nvSpPr>
          <p:cNvPr id="24" name="AftDesc"/>
          <p:cNvSpPr/>
          <p:nvPr/>
        </p:nvSpPr>
        <p:spPr>
          <a:xfrm>
            <a:off x="4880000" y="2460000"/>
            <a:ext cx="3452960" cy="1250000"/>
          </a:xfrm>
          <a:prstGeom prst="rect">
            <a:avLst/>
          </a:prstGeom>
          <a:noFill/>
          <a:ln/>
        </p:spPr>
        <p:txBody>
          <a:bodyPr wrap="square" lIns="0" tIns="4572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ko-KR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파일 자동 순회·점검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ko-KR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손상·암호·확장자 불일치 자동 감지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ko-KR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결과를 엑셀로 일괄 정리</a:t>
            </a:r>
          </a:p>
        </p:txBody>
      </p:sp>
      <p:sp>
        <p:nvSpPr>
          <p:cNvPr id="30" name="Divider"/>
          <p:cNvSpPr/>
          <p:nvPr/>
        </p:nvSpPr>
        <p:spPr>
          <a:xfrm>
            <a:off x="731520" y="3900000"/>
            <a:ext cx="7681440" cy="18288"/>
          </a:xfrm>
          <a:prstGeom prst="rect">
            <a:avLst/>
          </a:prstGeom>
          <a:solidFill>
            <a:srgbClr val="E8F0F2"/>
          </a:solidFill>
          <a:ln/>
        </p:spPr>
      </p:sp>
      <p:sp>
        <p:nvSpPr>
          <p:cNvPr id="40" name="Stat0"/>
          <p:cNvSpPr/>
          <p:nvPr/>
        </p:nvSpPr>
        <p:spPr>
          <a:xfrm>
            <a:off x="731520" y="3960000"/>
            <a:ext cx="2523904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전수</a:t>
            </a:r>
          </a:p>
        </p:txBody>
      </p:sp>
      <p:sp>
        <p:nvSpPr>
          <p:cNvPr id="41" name="SLine0"/>
          <p:cNvSpPr/>
          <p:nvPr/>
        </p:nvSpPr>
        <p:spPr>
          <a:xfrm>
            <a:off x="822960" y="4610000"/>
            <a:ext cx="2341024" cy="9144"/>
          </a:xfrm>
          <a:prstGeom prst="rect">
            <a:avLst/>
          </a:prstGeom>
          <a:solidFill>
            <a:srgbClr val="E8F0F2"/>
          </a:solidFill>
          <a:ln/>
        </p:spPr>
      </p:sp>
      <p:sp>
        <p:nvSpPr>
          <p:cNvPr id="42" name="Lbl0"/>
          <p:cNvSpPr/>
          <p:nvPr/>
        </p:nvSpPr>
        <p:spPr>
          <a:xfrm>
            <a:off x="731520" y="4640000"/>
            <a:ext cx="2523904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점검</a:t>
            </a:r>
          </a:p>
        </p:txBody>
      </p:sp>
      <p:sp>
        <p:nvSpPr>
          <p:cNvPr id="43" name="Stat1"/>
          <p:cNvSpPr/>
          <p:nvPr/>
        </p:nvSpPr>
        <p:spPr>
          <a:xfrm>
            <a:off x="3310288" y="3960000"/>
            <a:ext cx="2523904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 건</a:t>
            </a:r>
          </a:p>
        </p:txBody>
      </p:sp>
      <p:sp>
        <p:nvSpPr>
          <p:cNvPr id="44" name="SLine1"/>
          <p:cNvSpPr/>
          <p:nvPr/>
        </p:nvSpPr>
        <p:spPr>
          <a:xfrm>
            <a:off x="3401728" y="4610000"/>
            <a:ext cx="2341024" cy="9144"/>
          </a:xfrm>
          <a:prstGeom prst="rect">
            <a:avLst/>
          </a:prstGeom>
          <a:solidFill>
            <a:srgbClr val="E8F0F2"/>
          </a:solidFill>
          <a:ln/>
        </p:spPr>
      </p:sp>
      <p:sp>
        <p:nvSpPr>
          <p:cNvPr id="45" name="Lbl1"/>
          <p:cNvSpPr/>
          <p:nvPr/>
        </p:nvSpPr>
        <p:spPr>
          <a:xfrm>
            <a:off x="3310288" y="4640000"/>
            <a:ext cx="2523904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누락 위험</a:t>
            </a:r>
          </a:p>
        </p:txBody>
      </p:sp>
      <p:sp>
        <p:nvSpPr>
          <p:cNvPr id="46" name="Stat2"/>
          <p:cNvSpPr/>
          <p:nvPr/>
        </p:nvSpPr>
        <p:spPr>
          <a:xfrm>
            <a:off x="5889056" y="3960000"/>
            <a:ext cx="2523904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즉시</a:t>
            </a:r>
          </a:p>
        </p:txBody>
      </p:sp>
      <p:sp>
        <p:nvSpPr>
          <p:cNvPr id="47" name="SLine2"/>
          <p:cNvSpPr/>
          <p:nvPr/>
        </p:nvSpPr>
        <p:spPr>
          <a:xfrm>
            <a:off x="5980496" y="4610000"/>
            <a:ext cx="2341024" cy="9144"/>
          </a:xfrm>
          <a:prstGeom prst="rect">
            <a:avLst/>
          </a:prstGeom>
          <a:solidFill>
            <a:srgbClr val="E8F0F2"/>
          </a:solidFill>
          <a:ln/>
        </p:spPr>
      </p:sp>
      <p:sp>
        <p:nvSpPr>
          <p:cNvPr id="48" name="Lbl2"/>
          <p:cNvSpPr/>
          <p:nvPr/>
        </p:nvSpPr>
        <p:spPr>
          <a:xfrm>
            <a:off x="5889056" y="4640000"/>
            <a:ext cx="2523904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 보고서 생성</a:t>
            </a:r>
          </a:p>
        </p:txBody>
      </p:sp>
      <p:sp>
        <p:nvSpPr>
          <p:cNvPr id="6" name="Shape 12">
            <a:extLst>
              <a:ext uri="{FF2B5EF4-FFF2-40B4-BE49-F238E27FC236}">
                <a16:creationId xmlns:a16="http://schemas.microsoft.com/office/drawing/2014/main" id="{4A6AE7F2-C071-E331-3AC0-742AA4D33B23}"/>
              </a:ext>
            </a:extLst>
          </p:cNvPr>
          <p:cNvSpPr/>
          <p:nvPr/>
        </p:nvSpPr>
        <p:spPr>
          <a:xfrm>
            <a:off x="731520" y="728752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13">
            <a:extLst>
              <a:ext uri="{FF2B5EF4-FFF2-40B4-BE49-F238E27FC236}">
                <a16:creationId xmlns:a16="http://schemas.microsoft.com/office/drawing/2014/main" id="{61307348-C2EE-306B-88CB-76D011D99ABA}"/>
              </a:ext>
            </a:extLst>
          </p:cNvPr>
          <p:cNvSpPr/>
          <p:nvPr/>
        </p:nvSpPr>
        <p:spPr>
          <a:xfrm>
            <a:off x="731520" y="728752"/>
            <a:ext cx="64008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AA02E210-BC36-04C7-E9F9-722DEBB830A1}"/>
              </a:ext>
            </a:extLst>
          </p:cNvPr>
          <p:cNvSpPr/>
          <p:nvPr/>
        </p:nvSpPr>
        <p:spPr>
          <a:xfrm>
            <a:off x="1005840" y="765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0898F060-4FCA-AFEE-801B-D680AF416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847624"/>
            <a:ext cx="292608" cy="292608"/>
          </a:xfrm>
          <a:prstGeom prst="rect">
            <a:avLst/>
          </a:prstGeom>
        </p:spPr>
      </p:pic>
      <p:sp>
        <p:nvSpPr>
          <p:cNvPr id="15" name="Text 15">
            <a:extLst>
              <a:ext uri="{FF2B5EF4-FFF2-40B4-BE49-F238E27FC236}">
                <a16:creationId xmlns:a16="http://schemas.microsoft.com/office/drawing/2014/main" id="{5A3ED3E3-39E8-E595-C39F-8C5B5FA6F1CC}"/>
              </a:ext>
            </a:extLst>
          </p:cNvPr>
          <p:cNvSpPr/>
          <p:nvPr/>
        </p:nvSpPr>
        <p:spPr>
          <a:xfrm>
            <a:off x="2011680" y="7653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수신자료 파일 점검 자동화</a:t>
            </a:r>
            <a:endParaRPr lang="en-US" sz="1500" dirty="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D4BDBF56-84C8-63D7-974A-BB0FF4B6E3A7}"/>
              </a:ext>
            </a:extLst>
          </p:cNvPr>
          <p:cNvSpPr/>
          <p:nvPr/>
        </p:nvSpPr>
        <p:spPr>
          <a:xfrm>
            <a:off x="2011680" y="104879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 err="1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</a:t>
            </a:r>
            <a:r>
              <a:rPr lang="en-US" altLang="ko-KR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00" dirty="0" err="1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순회</a:t>
            </a:r>
            <a:r>
              <a:rPr lang="en-US" altLang="ko-KR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000" dirty="0" err="1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</a:t>
            </a: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열림·손상</a:t>
            </a: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점검 · </a:t>
            </a:r>
            <a:r>
              <a:rPr lang="en-US" sz="1000" dirty="0" err="1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</a:t>
            </a: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00" dirty="0" err="1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양식</a:t>
            </a:r>
            <a:r>
              <a:rPr lang="en-US" altLang="ko-KR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00" dirty="0" err="1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</a:t>
            </a:r>
            <a:r>
              <a:rPr lang="en-US" altLang="ko-KR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00" dirty="0" err="1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Line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BefBg"/>
          <p:cNvSpPr/>
          <p:nvPr/>
        </p:nvSpPr>
        <p:spPr>
          <a:xfrm>
            <a:off x="731520" y="1600000"/>
            <a:ext cx="3612960" cy="2200000"/>
          </a:xfrm>
          <a:prstGeom prst="rect">
            <a:avLst/>
          </a:prstGeom>
          <a:solidFill>
            <a:srgbClr val="FFF0EE"/>
          </a:solidFill>
          <a:ln w="12700">
            <a:solidFill>
              <a:srgbClr val="C0392B"/>
            </a:solidFill>
          </a:ln>
        </p:spPr>
      </p:sp>
      <p:sp>
        <p:nvSpPr>
          <p:cNvPr id="11" name="BefBar"/>
          <p:cNvSpPr/>
          <p:nvPr/>
        </p:nvSpPr>
        <p:spPr>
          <a:xfrm>
            <a:off x="731520" y="1600000"/>
            <a:ext cx="361296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BefLbl"/>
          <p:cNvSpPr/>
          <p:nvPr/>
        </p:nvSpPr>
        <p:spPr>
          <a:xfrm>
            <a:off x="811520" y="1680000"/>
            <a:ext cx="345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1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수작업</a:t>
            </a:r>
          </a:p>
        </p:txBody>
      </p:sp>
      <p:sp>
        <p:nvSpPr>
          <p:cNvPr id="13" name="BefTime"/>
          <p:cNvSpPr/>
          <p:nvPr/>
        </p:nvSpPr>
        <p:spPr>
          <a:xfrm>
            <a:off x="811520" y="1940000"/>
            <a:ext cx="345296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26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건당 5~10분</a:t>
            </a:r>
          </a:p>
        </p:txBody>
      </p:sp>
      <p:sp>
        <p:nvSpPr>
          <p:cNvPr id="14" name="BefDesc"/>
          <p:cNvSpPr/>
          <p:nvPr/>
        </p:nvSpPr>
        <p:spPr>
          <a:xfrm>
            <a:off x="811520" y="2460000"/>
            <a:ext cx="3452960" cy="1250000"/>
          </a:xfrm>
          <a:prstGeom prst="rect">
            <a:avLst/>
          </a:prstGeom>
          <a:noFill/>
          <a:ln/>
        </p:spPr>
        <p:txBody>
          <a:bodyPr wrap="square" lIns="0" tIns="4572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ko-KR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열어 사업자번호·승인번호·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ko-KR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금액 확인 후 엑셀 양식에 수동 입력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ko-KR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100건 = 약 10시간</a:t>
            </a:r>
          </a:p>
        </p:txBody>
      </p:sp>
      <p:sp>
        <p:nvSpPr>
          <p:cNvPr id="19" name="Arrow"/>
          <p:cNvSpPr/>
          <p:nvPr/>
        </p:nvSpPr>
        <p:spPr>
          <a:xfrm>
            <a:off x="4440480" y="2460000"/>
            <a:ext cx="263520" cy="400000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20" name="AftBg"/>
          <p:cNvSpPr/>
          <p:nvPr/>
        </p:nvSpPr>
        <p:spPr>
          <a:xfrm>
            <a:off x="4800000" y="1600000"/>
            <a:ext cx="3612960" cy="2200000"/>
          </a:xfrm>
          <a:prstGeom prst="rect">
            <a:avLst/>
          </a:prstGeom>
          <a:solidFill>
            <a:srgbClr val="F0FAFA"/>
          </a:solidFill>
          <a:ln w="12700">
            <a:solidFill>
              <a:srgbClr val="028090"/>
            </a:solidFill>
          </a:ln>
        </p:spPr>
      </p:sp>
      <p:sp>
        <p:nvSpPr>
          <p:cNvPr id="21" name="AftBar"/>
          <p:cNvSpPr/>
          <p:nvPr/>
        </p:nvSpPr>
        <p:spPr>
          <a:xfrm>
            <a:off x="4800000" y="1600000"/>
            <a:ext cx="36129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AftLbl"/>
          <p:cNvSpPr/>
          <p:nvPr/>
        </p:nvSpPr>
        <p:spPr>
          <a:xfrm>
            <a:off x="4880000" y="1680000"/>
            <a:ext cx="345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자동화</a:t>
            </a:r>
          </a:p>
        </p:txBody>
      </p:sp>
      <p:sp>
        <p:nvSpPr>
          <p:cNvPr id="23" name="AftTime"/>
          <p:cNvSpPr/>
          <p:nvPr/>
        </p:nvSpPr>
        <p:spPr>
          <a:xfrm>
            <a:off x="4880000" y="1940000"/>
            <a:ext cx="345296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폴더 드롭 후 즉시</a:t>
            </a:r>
          </a:p>
        </p:txBody>
      </p:sp>
      <p:sp>
        <p:nvSpPr>
          <p:cNvPr id="24" name="AftDesc"/>
          <p:cNvSpPr/>
          <p:nvPr/>
        </p:nvSpPr>
        <p:spPr>
          <a:xfrm>
            <a:off x="4880000" y="2460000"/>
            <a:ext cx="3452960" cy="1250000"/>
          </a:xfrm>
          <a:prstGeom prst="rect">
            <a:avLst/>
          </a:prstGeom>
          <a:noFill/>
          <a:ln/>
        </p:spPr>
        <p:txBody>
          <a:bodyPr wrap="square" lIns="0" tIns="4572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ko-KR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정규식 + OCR 이중 인식으로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ko-KR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항목 자동 추출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ko-KR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일괄등록양식 자동 입력</a:t>
            </a:r>
          </a:p>
        </p:txBody>
      </p:sp>
      <p:sp>
        <p:nvSpPr>
          <p:cNvPr id="30" name="Divider"/>
          <p:cNvSpPr/>
          <p:nvPr/>
        </p:nvSpPr>
        <p:spPr>
          <a:xfrm>
            <a:off x="731520" y="3900000"/>
            <a:ext cx="7681440" cy="18288"/>
          </a:xfrm>
          <a:prstGeom prst="rect">
            <a:avLst/>
          </a:prstGeom>
          <a:solidFill>
            <a:srgbClr val="E8F0F2"/>
          </a:solidFill>
          <a:ln/>
        </p:spPr>
      </p:sp>
      <p:sp>
        <p:nvSpPr>
          <p:cNvPr id="40" name="Stat0"/>
          <p:cNvSpPr/>
          <p:nvPr/>
        </p:nvSpPr>
        <p:spPr>
          <a:xfrm>
            <a:off x="731520" y="3960000"/>
            <a:ext cx="2523904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95%↓</a:t>
            </a:r>
          </a:p>
        </p:txBody>
      </p:sp>
      <p:sp>
        <p:nvSpPr>
          <p:cNvPr id="41" name="SLine0"/>
          <p:cNvSpPr/>
          <p:nvPr/>
        </p:nvSpPr>
        <p:spPr>
          <a:xfrm>
            <a:off x="822960" y="4610000"/>
            <a:ext cx="2341024" cy="9144"/>
          </a:xfrm>
          <a:prstGeom prst="rect">
            <a:avLst/>
          </a:prstGeom>
          <a:solidFill>
            <a:srgbClr val="E8F0F2"/>
          </a:solidFill>
          <a:ln/>
        </p:spPr>
      </p:sp>
      <p:sp>
        <p:nvSpPr>
          <p:cNvPr id="42" name="Lbl0"/>
          <p:cNvSpPr/>
          <p:nvPr/>
        </p:nvSpPr>
        <p:spPr>
          <a:xfrm>
            <a:off x="731520" y="4640000"/>
            <a:ext cx="2523904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시간 절감</a:t>
            </a:r>
          </a:p>
        </p:txBody>
      </p:sp>
      <p:sp>
        <p:nvSpPr>
          <p:cNvPr id="43" name="Stat1"/>
          <p:cNvSpPr/>
          <p:nvPr/>
        </p:nvSpPr>
        <p:spPr>
          <a:xfrm>
            <a:off x="3310288" y="3960000"/>
            <a:ext cx="2523904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이중 엔진</a:t>
            </a:r>
          </a:p>
        </p:txBody>
      </p:sp>
      <p:sp>
        <p:nvSpPr>
          <p:cNvPr id="44" name="SLine1"/>
          <p:cNvSpPr/>
          <p:nvPr/>
        </p:nvSpPr>
        <p:spPr>
          <a:xfrm>
            <a:off x="3401728" y="4610000"/>
            <a:ext cx="2341024" cy="9144"/>
          </a:xfrm>
          <a:prstGeom prst="rect">
            <a:avLst/>
          </a:prstGeom>
          <a:solidFill>
            <a:srgbClr val="E8F0F2"/>
          </a:solidFill>
          <a:ln/>
        </p:spPr>
      </p:sp>
      <p:sp>
        <p:nvSpPr>
          <p:cNvPr id="45" name="Lbl1"/>
          <p:cNvSpPr/>
          <p:nvPr/>
        </p:nvSpPr>
        <p:spPr>
          <a:xfrm>
            <a:off x="3310288" y="4640000"/>
            <a:ext cx="2523904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텍스트+OCR</a:t>
            </a:r>
          </a:p>
        </p:txBody>
      </p:sp>
      <p:sp>
        <p:nvSpPr>
          <p:cNvPr id="46" name="Stat2"/>
          <p:cNvSpPr/>
          <p:nvPr/>
        </p:nvSpPr>
        <p:spPr>
          <a:xfrm>
            <a:off x="5889056" y="3960000"/>
            <a:ext cx="2523904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100건</a:t>
            </a:r>
          </a:p>
        </p:txBody>
      </p:sp>
      <p:sp>
        <p:nvSpPr>
          <p:cNvPr id="47" name="SLine2"/>
          <p:cNvSpPr/>
          <p:nvPr/>
        </p:nvSpPr>
        <p:spPr>
          <a:xfrm>
            <a:off x="5980496" y="4610000"/>
            <a:ext cx="2341024" cy="9144"/>
          </a:xfrm>
          <a:prstGeom prst="rect">
            <a:avLst/>
          </a:prstGeom>
          <a:solidFill>
            <a:srgbClr val="E8F0F2"/>
          </a:solidFill>
          <a:ln/>
        </p:spPr>
      </p:sp>
      <p:sp>
        <p:nvSpPr>
          <p:cNvPr id="48" name="Lbl2"/>
          <p:cNvSpPr/>
          <p:nvPr/>
        </p:nvSpPr>
        <p:spPr>
          <a:xfrm>
            <a:off x="5889056" y="4640000"/>
            <a:ext cx="2523904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 분 내 완료</a:t>
            </a:r>
          </a:p>
        </p:txBody>
      </p:sp>
      <p:sp>
        <p:nvSpPr>
          <p:cNvPr id="6" name="Shape 17">
            <a:extLst>
              <a:ext uri="{FF2B5EF4-FFF2-40B4-BE49-F238E27FC236}">
                <a16:creationId xmlns:a16="http://schemas.microsoft.com/office/drawing/2014/main" id="{F90890CB-350F-A8C2-A8E3-476B7CE003F8}"/>
              </a:ext>
            </a:extLst>
          </p:cNvPr>
          <p:cNvSpPr/>
          <p:nvPr/>
        </p:nvSpPr>
        <p:spPr>
          <a:xfrm>
            <a:off x="731520" y="674824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18">
            <a:extLst>
              <a:ext uri="{FF2B5EF4-FFF2-40B4-BE49-F238E27FC236}">
                <a16:creationId xmlns:a16="http://schemas.microsoft.com/office/drawing/2014/main" id="{2AC16CAD-27A2-CB4A-9EBC-8B508694A2FB}"/>
              </a:ext>
            </a:extLst>
          </p:cNvPr>
          <p:cNvSpPr/>
          <p:nvPr/>
        </p:nvSpPr>
        <p:spPr>
          <a:xfrm>
            <a:off x="731520" y="674824"/>
            <a:ext cx="64008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19">
            <a:extLst>
              <a:ext uri="{FF2B5EF4-FFF2-40B4-BE49-F238E27FC236}">
                <a16:creationId xmlns:a16="http://schemas.microsoft.com/office/drawing/2014/main" id="{FDF1472C-2EC1-E5B8-FF4F-EB11CDAE31AD}"/>
              </a:ext>
            </a:extLst>
          </p:cNvPr>
          <p:cNvSpPr/>
          <p:nvPr/>
        </p:nvSpPr>
        <p:spPr>
          <a:xfrm>
            <a:off x="1005840" y="711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pic>
        <p:nvPicPr>
          <p:cNvPr id="9" name="Image 3" descr="preencoded.png">
            <a:extLst>
              <a:ext uri="{FF2B5EF4-FFF2-40B4-BE49-F238E27FC236}">
                <a16:creationId xmlns:a16="http://schemas.microsoft.com/office/drawing/2014/main" id="{A35E5186-AB7A-BDB3-8B07-845CD7CA1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793696"/>
            <a:ext cx="292608" cy="292608"/>
          </a:xfrm>
          <a:prstGeom prst="rect">
            <a:avLst/>
          </a:prstGeom>
        </p:spPr>
      </p:pic>
      <p:sp>
        <p:nvSpPr>
          <p:cNvPr id="15" name="Text 20">
            <a:extLst>
              <a:ext uri="{FF2B5EF4-FFF2-40B4-BE49-F238E27FC236}">
                <a16:creationId xmlns:a16="http://schemas.microsoft.com/office/drawing/2014/main" id="{49792B07-2979-80E5-C9A2-F8B285B2A7E3}"/>
              </a:ext>
            </a:extLst>
          </p:cNvPr>
          <p:cNvSpPr/>
          <p:nvPr/>
        </p:nvSpPr>
        <p:spPr>
          <a:xfrm>
            <a:off x="2011680" y="711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세금계산서 PDF 자동 추출</a:t>
            </a:r>
            <a:endParaRPr lang="en-US" sz="1500" dirty="0"/>
          </a:p>
        </p:txBody>
      </p:sp>
      <p:sp>
        <p:nvSpPr>
          <p:cNvPr id="16" name="Text 21">
            <a:extLst>
              <a:ext uri="{FF2B5EF4-FFF2-40B4-BE49-F238E27FC236}">
                <a16:creationId xmlns:a16="http://schemas.microsoft.com/office/drawing/2014/main" id="{C350CB5E-B992-F581-A936-F2681640807A}"/>
              </a:ext>
            </a:extLst>
          </p:cNvPr>
          <p:cNvSpPr/>
          <p:nvPr/>
        </p:nvSpPr>
        <p:spPr>
          <a:xfrm>
            <a:off x="2011680" y="99486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 err="1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</a:t>
            </a:r>
            <a:r>
              <a:rPr lang="en-US" altLang="ko-KR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00" dirty="0" err="1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순회</a:t>
            </a:r>
            <a:r>
              <a:rPr lang="en-US" altLang="ko-KR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000" dirty="0" err="1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PDF에서</a:t>
            </a: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세금계산서</a:t>
            </a: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인식 및 </a:t>
            </a:r>
            <a:r>
              <a:rPr lang="en-US" sz="1000" dirty="0" err="1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추출</a:t>
            </a: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OCR · 엑셀 양식 자동 입력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256032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실거래가 DB &amp; 리포트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10년치 실거래 매매가 DB 구축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국토교통부 공공 API를 활용하여 서울·경기 전역의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10년간 실거래 데이터를 자동 수집·DB 구축하며, 기상청 API 등 타 공공 API에도 적용 가능합니다.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5356665" cy="713232"/>
          </a:xfrm>
          <a:prstGeom prst="rect">
            <a:avLst/>
          </a:prstGeom>
          <a:solidFill>
            <a:srgbClr val="16233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32257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395728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267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전수 수집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691640" y="2578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국토교통부 실거래가 </a:t>
            </a:r>
            <a:r>
              <a:rPr lang="en-US" sz="1100" dirty="0" err="1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API에서</a:t>
            </a:r>
            <a:r>
              <a:rPr lang="en-US" sz="11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4개 거래유형 × 68개 시군구 데이터 수집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216152" y="2907792"/>
            <a:ext cx="36576" cy="15544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Shape 9"/>
          <p:cNvSpPr/>
          <p:nvPr/>
        </p:nvSpPr>
        <p:spPr>
          <a:xfrm>
            <a:off x="731520" y="3063240"/>
            <a:ext cx="5356665" cy="713232"/>
          </a:xfrm>
          <a:prstGeom prst="rect">
            <a:avLst/>
          </a:prstGeom>
          <a:solidFill>
            <a:srgbClr val="16233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05840" y="319125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3264408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91640" y="3136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SQLite DB 저장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691640" y="344728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데이터를 구조화된 DB로 저장 · 이어하기(Resume) 지원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1216152" y="3776472"/>
            <a:ext cx="36576" cy="15544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Shape 14"/>
          <p:cNvSpPr/>
          <p:nvPr/>
        </p:nvSpPr>
        <p:spPr>
          <a:xfrm>
            <a:off x="731520" y="3931920"/>
            <a:ext cx="5356665" cy="713232"/>
          </a:xfrm>
          <a:prstGeom prst="rect">
            <a:avLst/>
          </a:prstGeom>
          <a:solidFill>
            <a:srgbClr val="16233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005840" y="405993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4133088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91640" y="4005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엑셀 리포트 생성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691640" y="43159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 대시보드 + 유형별 상세 시트로 분석 보고서 자동 생성</a:t>
            </a:r>
            <a:endParaRPr lang="en-US" sz="1100" dirty="0"/>
          </a:p>
        </p:txBody>
      </p:sp>
      <p:sp>
        <p:nvSpPr>
          <p:cNvPr id="23" name="Shape versatility"/>
          <p:cNvSpPr/>
          <p:nvPr/>
        </p:nvSpPr>
        <p:spPr>
          <a:xfrm>
            <a:off x="6400800" y="2119138"/>
            <a:ext cx="2377440" cy="2656300"/>
          </a:xfrm>
          <a:prstGeom prst="roundRect">
            <a:avLst>
              <a:gd name="adj" fmla="val 8000"/>
            </a:avLst>
          </a:prstGeom>
          <a:solidFill>
            <a:srgbClr val="162337"/>
          </a:solidFill>
          <a:ln w="6350">
            <a:solidFill>
              <a:srgbClr val="028090"/>
            </a:solidFill>
            <a:prstDash val="solid"/>
          </a:ln>
        </p:spPr>
        <p:txBody>
          <a:bodyPr wrap="square" lIns="91440" tIns="91440" rIns="91440" bIns="91440" rtlCol="0" anchor="t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</a:rPr>
              <a:t>API 범용 아키텍처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0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</a:rPr>
              <a:t>동일한 수집·저장 구조를 다른 공공 API에도 적용 가능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▶  기상청 API (ASOS)</a:t>
            </a:r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</a:rPr>
              <a:t>  기상데이터 수집 → 작업불가일 산정 모듈로 확장 진행 중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▶  국토교통부 API</a:t>
            </a:r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</a:rPr>
              <a:t>  실거래가 전수 수집 (현재 적용 완료)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▶  기타 공공 데이터 API</a:t>
            </a:r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</a:rPr>
              <a:t>  API 교체만으로 새로운 데이터 수집 가능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Line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BefBg"/>
          <p:cNvSpPr/>
          <p:nvPr/>
        </p:nvSpPr>
        <p:spPr>
          <a:xfrm>
            <a:off x="731520" y="1600000"/>
            <a:ext cx="3612960" cy="2200000"/>
          </a:xfrm>
          <a:prstGeom prst="rect">
            <a:avLst/>
          </a:prstGeom>
          <a:solidFill>
            <a:srgbClr val="FFF0EE"/>
          </a:solidFill>
          <a:ln w="12700">
            <a:solidFill>
              <a:srgbClr val="C0392B"/>
            </a:solidFill>
          </a:ln>
        </p:spPr>
      </p:sp>
      <p:sp>
        <p:nvSpPr>
          <p:cNvPr id="11" name="BefBar"/>
          <p:cNvSpPr/>
          <p:nvPr/>
        </p:nvSpPr>
        <p:spPr>
          <a:xfrm>
            <a:off x="731520" y="1600000"/>
            <a:ext cx="361296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BefLbl"/>
          <p:cNvSpPr/>
          <p:nvPr/>
        </p:nvSpPr>
        <p:spPr>
          <a:xfrm>
            <a:off x="811520" y="1680000"/>
            <a:ext cx="345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1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수작업</a:t>
            </a:r>
          </a:p>
        </p:txBody>
      </p:sp>
      <p:sp>
        <p:nvSpPr>
          <p:cNvPr id="13" name="BefTime"/>
          <p:cNvSpPr/>
          <p:nvPr/>
        </p:nvSpPr>
        <p:spPr>
          <a:xfrm>
            <a:off x="811520" y="1940000"/>
            <a:ext cx="345296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26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건당 수 분</a:t>
            </a:r>
          </a:p>
        </p:txBody>
      </p:sp>
      <p:sp>
        <p:nvSpPr>
          <p:cNvPr id="14" name="BefDesc"/>
          <p:cNvSpPr/>
          <p:nvPr/>
        </p:nvSpPr>
        <p:spPr>
          <a:xfrm>
            <a:off x="811520" y="2460000"/>
            <a:ext cx="3452960" cy="1250000"/>
          </a:xfrm>
          <a:prstGeom prst="rect">
            <a:avLst/>
          </a:prstGeom>
          <a:noFill/>
          <a:ln/>
        </p:spPr>
        <p:txBody>
          <a:bodyPr wrap="square" lIns="0" tIns="4572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ko-KR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 확인 → 한글 파일 열기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ko-KR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항목별 복사·붙여넣기 반복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ko-KR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수백 건이면 수일 소요</a:t>
            </a:r>
          </a:p>
        </p:txBody>
      </p:sp>
      <p:sp>
        <p:nvSpPr>
          <p:cNvPr id="19" name="Arrow"/>
          <p:cNvSpPr/>
          <p:nvPr/>
        </p:nvSpPr>
        <p:spPr>
          <a:xfrm>
            <a:off x="4440480" y="2460000"/>
            <a:ext cx="263520" cy="400000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20" name="AftBg"/>
          <p:cNvSpPr/>
          <p:nvPr/>
        </p:nvSpPr>
        <p:spPr>
          <a:xfrm>
            <a:off x="4800000" y="1600000"/>
            <a:ext cx="3612960" cy="2200000"/>
          </a:xfrm>
          <a:prstGeom prst="rect">
            <a:avLst/>
          </a:prstGeom>
          <a:solidFill>
            <a:srgbClr val="F0FAFA"/>
          </a:solidFill>
          <a:ln w="12700">
            <a:solidFill>
              <a:srgbClr val="028090"/>
            </a:solidFill>
          </a:ln>
        </p:spPr>
      </p:sp>
      <p:sp>
        <p:nvSpPr>
          <p:cNvPr id="21" name="AftBar"/>
          <p:cNvSpPr/>
          <p:nvPr/>
        </p:nvSpPr>
        <p:spPr>
          <a:xfrm>
            <a:off x="4800000" y="1600000"/>
            <a:ext cx="36129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AftLbl"/>
          <p:cNvSpPr/>
          <p:nvPr/>
        </p:nvSpPr>
        <p:spPr>
          <a:xfrm>
            <a:off x="4880000" y="1680000"/>
            <a:ext cx="345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자동화</a:t>
            </a:r>
          </a:p>
        </p:txBody>
      </p:sp>
      <p:sp>
        <p:nvSpPr>
          <p:cNvPr id="23" name="AftTime"/>
          <p:cNvSpPr/>
          <p:nvPr/>
        </p:nvSpPr>
        <p:spPr>
          <a:xfrm>
            <a:off x="4880000" y="1940000"/>
            <a:ext cx="345296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수 건을 수 초</a:t>
            </a:r>
          </a:p>
        </p:txBody>
      </p:sp>
      <p:sp>
        <p:nvSpPr>
          <p:cNvPr id="24" name="AftDesc"/>
          <p:cNvSpPr/>
          <p:nvPr/>
        </p:nvSpPr>
        <p:spPr>
          <a:xfrm>
            <a:off x="4880000" y="2460000"/>
            <a:ext cx="3452960" cy="1250000"/>
          </a:xfrm>
          <a:prstGeom prst="rect">
            <a:avLst/>
          </a:prstGeom>
          <a:noFill/>
          <a:ln/>
        </p:spPr>
        <p:txBody>
          <a:bodyPr wrap="square" lIns="0" tIns="4572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ko-KR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 컬럼 ↔ 누름틀 필드명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ko-KR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매핑 후 일괄 문서 생성</a:t>
            </a:r>
          </a:p>
          <a:p>
            <a:pPr marL="0" indent="0" algn="ctr">
              <a:lnSpc>
                <a:spcPct val="140000"/>
              </a:lnSpc>
              <a:buNone/>
            </a:pPr>
            <a:r>
              <a:rPr lang="ko-KR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인원 불필요, 오류 없음</a:t>
            </a:r>
          </a:p>
        </p:txBody>
      </p:sp>
      <p:sp>
        <p:nvSpPr>
          <p:cNvPr id="30" name="Divider"/>
          <p:cNvSpPr/>
          <p:nvPr/>
        </p:nvSpPr>
        <p:spPr>
          <a:xfrm>
            <a:off x="731520" y="3900000"/>
            <a:ext cx="7681440" cy="18288"/>
          </a:xfrm>
          <a:prstGeom prst="rect">
            <a:avLst/>
          </a:prstGeom>
          <a:solidFill>
            <a:srgbClr val="E8F0F2"/>
          </a:solidFill>
          <a:ln/>
        </p:spPr>
      </p:sp>
      <p:sp>
        <p:nvSpPr>
          <p:cNvPr id="40" name="Stat0"/>
          <p:cNvSpPr/>
          <p:nvPr/>
        </p:nvSpPr>
        <p:spPr>
          <a:xfrm>
            <a:off x="731520" y="3960000"/>
            <a:ext cx="2523904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수 초</a:t>
            </a:r>
          </a:p>
        </p:txBody>
      </p:sp>
      <p:sp>
        <p:nvSpPr>
          <p:cNvPr id="41" name="SLine0"/>
          <p:cNvSpPr/>
          <p:nvPr/>
        </p:nvSpPr>
        <p:spPr>
          <a:xfrm>
            <a:off x="822960" y="4610000"/>
            <a:ext cx="2341024" cy="9144"/>
          </a:xfrm>
          <a:prstGeom prst="rect">
            <a:avLst/>
          </a:prstGeom>
          <a:solidFill>
            <a:srgbClr val="E8F0F2"/>
          </a:solidFill>
          <a:ln/>
        </p:spPr>
      </p:sp>
      <p:sp>
        <p:nvSpPr>
          <p:cNvPr id="42" name="Lbl0"/>
          <p:cNvSpPr/>
          <p:nvPr/>
        </p:nvSpPr>
        <p:spPr>
          <a:xfrm>
            <a:off x="731520" y="4640000"/>
            <a:ext cx="2523904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 건 처리</a:t>
            </a:r>
          </a:p>
        </p:txBody>
      </p:sp>
      <p:sp>
        <p:nvSpPr>
          <p:cNvPr id="43" name="Stat1"/>
          <p:cNvSpPr/>
          <p:nvPr/>
        </p:nvSpPr>
        <p:spPr>
          <a:xfrm>
            <a:off x="3310288" y="3960000"/>
            <a:ext cx="2523904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</a:p>
        </p:txBody>
      </p:sp>
      <p:sp>
        <p:nvSpPr>
          <p:cNvPr id="44" name="SLine1"/>
          <p:cNvSpPr/>
          <p:nvPr/>
        </p:nvSpPr>
        <p:spPr>
          <a:xfrm>
            <a:off x="3401728" y="4610000"/>
            <a:ext cx="2341024" cy="9144"/>
          </a:xfrm>
          <a:prstGeom prst="rect">
            <a:avLst/>
          </a:prstGeom>
          <a:solidFill>
            <a:srgbClr val="E8F0F2"/>
          </a:solidFill>
          <a:ln/>
        </p:spPr>
      </p:sp>
      <p:sp>
        <p:nvSpPr>
          <p:cNvPr id="45" name="Lbl1"/>
          <p:cNvSpPr/>
          <p:nvPr/>
        </p:nvSpPr>
        <p:spPr>
          <a:xfrm>
            <a:off x="3310288" y="4640000"/>
            <a:ext cx="2523904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매핑</a:t>
            </a:r>
          </a:p>
        </p:txBody>
      </p:sp>
      <p:sp>
        <p:nvSpPr>
          <p:cNvPr id="46" name="Stat2"/>
          <p:cNvSpPr/>
          <p:nvPr/>
        </p:nvSpPr>
        <p:spPr>
          <a:xfrm>
            <a:off x="5889056" y="3960000"/>
            <a:ext cx="2523904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2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 건</a:t>
            </a:r>
          </a:p>
        </p:txBody>
      </p:sp>
      <p:sp>
        <p:nvSpPr>
          <p:cNvPr id="47" name="SLine2"/>
          <p:cNvSpPr/>
          <p:nvPr/>
        </p:nvSpPr>
        <p:spPr>
          <a:xfrm>
            <a:off x="5980496" y="4610000"/>
            <a:ext cx="2341024" cy="9144"/>
          </a:xfrm>
          <a:prstGeom prst="rect">
            <a:avLst/>
          </a:prstGeom>
          <a:solidFill>
            <a:srgbClr val="E8F0F2"/>
          </a:solidFill>
          <a:ln/>
        </p:spPr>
      </p:sp>
      <p:sp>
        <p:nvSpPr>
          <p:cNvPr id="48" name="Lbl2"/>
          <p:cNvSpPr/>
          <p:nvPr/>
        </p:nvSpPr>
        <p:spPr>
          <a:xfrm>
            <a:off x="5889056" y="4640000"/>
            <a:ext cx="2523904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수작업 복붙</a:t>
            </a:r>
          </a:p>
        </p:txBody>
      </p:sp>
      <p:sp>
        <p:nvSpPr>
          <p:cNvPr id="6" name="Shape 27">
            <a:extLst>
              <a:ext uri="{FF2B5EF4-FFF2-40B4-BE49-F238E27FC236}">
                <a16:creationId xmlns:a16="http://schemas.microsoft.com/office/drawing/2014/main" id="{A8AD4AF5-8A79-C834-B7D5-3E04C922A665}"/>
              </a:ext>
            </a:extLst>
          </p:cNvPr>
          <p:cNvSpPr/>
          <p:nvPr/>
        </p:nvSpPr>
        <p:spPr>
          <a:xfrm>
            <a:off x="731520" y="702800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28">
            <a:extLst>
              <a:ext uri="{FF2B5EF4-FFF2-40B4-BE49-F238E27FC236}">
                <a16:creationId xmlns:a16="http://schemas.microsoft.com/office/drawing/2014/main" id="{736AB57B-A82D-8E1D-8906-D8BFC7EA5AEF}"/>
              </a:ext>
            </a:extLst>
          </p:cNvPr>
          <p:cNvSpPr/>
          <p:nvPr/>
        </p:nvSpPr>
        <p:spPr>
          <a:xfrm>
            <a:off x="731520" y="702800"/>
            <a:ext cx="64008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29">
            <a:extLst>
              <a:ext uri="{FF2B5EF4-FFF2-40B4-BE49-F238E27FC236}">
                <a16:creationId xmlns:a16="http://schemas.microsoft.com/office/drawing/2014/main" id="{48DE5663-DE93-B73E-1B57-F61DF71FEF94}"/>
              </a:ext>
            </a:extLst>
          </p:cNvPr>
          <p:cNvSpPr/>
          <p:nvPr/>
        </p:nvSpPr>
        <p:spPr>
          <a:xfrm>
            <a:off x="1005840" y="739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000" dirty="0"/>
          </a:p>
        </p:txBody>
      </p:sp>
      <p:pic>
        <p:nvPicPr>
          <p:cNvPr id="9" name="Image 5" descr="preencoded.png">
            <a:extLst>
              <a:ext uri="{FF2B5EF4-FFF2-40B4-BE49-F238E27FC236}">
                <a16:creationId xmlns:a16="http://schemas.microsoft.com/office/drawing/2014/main" id="{4E7C89C2-3D86-55DD-F8BA-ED36EAB6E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821672"/>
            <a:ext cx="292608" cy="292608"/>
          </a:xfrm>
          <a:prstGeom prst="rect">
            <a:avLst/>
          </a:prstGeom>
        </p:spPr>
      </p:pic>
      <p:sp>
        <p:nvSpPr>
          <p:cNvPr id="15" name="Text 30">
            <a:extLst>
              <a:ext uri="{FF2B5EF4-FFF2-40B4-BE49-F238E27FC236}">
                <a16:creationId xmlns:a16="http://schemas.microsoft.com/office/drawing/2014/main" id="{67D0067D-DC72-AED6-62CB-95850510E323}"/>
              </a:ext>
            </a:extLst>
          </p:cNvPr>
          <p:cNvSpPr/>
          <p:nvPr/>
        </p:nvSpPr>
        <p:spPr>
          <a:xfrm>
            <a:off x="2011680" y="73937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한글 누름틀 자동화</a:t>
            </a:r>
            <a:endParaRPr lang="en-US" sz="1500" dirty="0"/>
          </a:p>
        </p:txBody>
      </p:sp>
      <p:sp>
        <p:nvSpPr>
          <p:cNvPr id="16" name="Text 31">
            <a:extLst>
              <a:ext uri="{FF2B5EF4-FFF2-40B4-BE49-F238E27FC236}">
                <a16:creationId xmlns:a16="http://schemas.microsoft.com/office/drawing/2014/main" id="{3691D8AD-6976-F58E-FD44-72A93F622682}"/>
              </a:ext>
            </a:extLst>
          </p:cNvPr>
          <p:cNvSpPr/>
          <p:nvPr/>
        </p:nvSpPr>
        <p:spPr>
          <a:xfrm>
            <a:off x="2011680" y="10228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 데이터 → 한글 문서 자동 입력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731520" y="320040"/>
            <a:ext cx="2560320" cy="28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ectionLabel"/>
          <p:cNvSpPr/>
          <p:nvPr/>
        </p:nvSpPr>
        <p:spPr>
          <a:xfrm>
            <a:off x="731520" y="320040"/>
            <a:ext cx="2560320" cy="28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000" b="1" dirty="0">
                <a:solidFill>
                  <a:srgbClr val="FFFFFF"/>
                </a:solidFill>
                <a:latin typeface="Calibri" pitchFamily="34" charset="0"/>
              </a:rPr>
              <a:t>업무 자동화 진행 현황</a:t>
            </a:r>
          </a:p>
        </p:txBody>
      </p:sp>
      <p:sp>
        <p:nvSpPr>
          <p:cNvPr id="4" name="MainTitle"/>
          <p:cNvSpPr/>
          <p:nvPr/>
        </p:nvSpPr>
        <p:spPr>
          <a:xfrm>
            <a:off x="731520" y="7300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2800" b="1" dirty="0">
                <a:solidFill>
                  <a:srgbClr val="FFFFFF"/>
                </a:solidFill>
                <a:latin typeface="Trebuchet MS" pitchFamily="34" charset="0"/>
              </a:rPr>
              <a:t>전체 모듈 현황 요약</a:t>
            </a:r>
          </a:p>
        </p:txBody>
      </p:sp>
      <p:sp>
        <p:nvSpPr>
          <p:cNvPr id="5" name="SubTitle"/>
          <p:cNvSpPr/>
          <p:nvPr/>
        </p:nvSpPr>
        <p:spPr>
          <a:xfrm>
            <a:off x="731520" y="1280000"/>
            <a:ext cx="731520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300" dirty="0">
                <a:solidFill>
                  <a:srgbClr val="8BA4B8"/>
                </a:solidFill>
                <a:latin typeface="Calibri" pitchFamily="34" charset="0"/>
              </a:rPr>
              <a:t>총 1</a:t>
            </a:r>
            <a:r>
              <a:rPr lang="en-US" altLang="ko-KR" sz="1300" dirty="0">
                <a:solidFill>
                  <a:srgbClr val="8BA4B8"/>
                </a:solidFill>
                <a:latin typeface="Calibri" pitchFamily="34" charset="0"/>
              </a:rPr>
              <a:t>1</a:t>
            </a:r>
            <a:r>
              <a:rPr lang="ko-KR" sz="1300" dirty="0">
                <a:solidFill>
                  <a:srgbClr val="8BA4B8"/>
                </a:solidFill>
                <a:latin typeface="Calibri" pitchFamily="34" charset="0"/>
              </a:rPr>
              <a:t>개 모듈 중 </a:t>
            </a:r>
            <a:r>
              <a:rPr lang="en-US" altLang="ko-KR" sz="1300" dirty="0">
                <a:solidFill>
                  <a:srgbClr val="8BA4B8"/>
                </a:solidFill>
                <a:latin typeface="Calibri" pitchFamily="34" charset="0"/>
              </a:rPr>
              <a:t>7</a:t>
            </a:r>
            <a:r>
              <a:rPr lang="ko-KR" sz="1300" dirty="0">
                <a:solidFill>
                  <a:srgbClr val="8BA4B8"/>
                </a:solidFill>
                <a:latin typeface="Calibri" pitchFamily="34" charset="0"/>
              </a:rPr>
              <a:t>개 완료 · 4개 기능 설계 진행 중</a:t>
            </a:r>
          </a:p>
        </p:txBody>
      </p:sp>
      <p:sp>
        <p:nvSpPr>
          <p:cNvPr id="10" name="C1Bg"/>
          <p:cNvSpPr/>
          <p:nvPr/>
        </p:nvSpPr>
        <p:spPr>
          <a:xfrm>
            <a:off x="731520" y="1850000"/>
            <a:ext cx="1650000" cy="1900000"/>
          </a:xfrm>
          <a:prstGeom prst="rect">
            <a:avLst/>
          </a:prstGeom>
          <a:solidFill>
            <a:srgbClr val="162337"/>
          </a:solidFill>
          <a:ln w="6350">
            <a:solidFill>
              <a:srgbClr val="028090"/>
            </a:solidFill>
          </a:ln>
        </p:spPr>
      </p:sp>
      <p:sp>
        <p:nvSpPr>
          <p:cNvPr id="11" name="C1Num"/>
          <p:cNvSpPr/>
          <p:nvPr/>
        </p:nvSpPr>
        <p:spPr>
          <a:xfrm>
            <a:off x="731520" y="2050000"/>
            <a:ext cx="165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2C39A"/>
                </a:solidFill>
                <a:latin typeface="Trebuchet MS" pitchFamily="34" charset="0"/>
              </a:rPr>
              <a:t>11</a:t>
            </a:r>
          </a:p>
        </p:txBody>
      </p:sp>
      <p:sp>
        <p:nvSpPr>
          <p:cNvPr id="12" name="C1Lbl"/>
          <p:cNvSpPr/>
          <p:nvPr/>
        </p:nvSpPr>
        <p:spPr>
          <a:xfrm>
            <a:off x="731520" y="2800000"/>
            <a:ext cx="16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200" dirty="0">
                <a:solidFill>
                  <a:srgbClr val="8BA4B8"/>
                </a:solidFill>
                <a:latin typeface="Calibri" pitchFamily="34" charset="0"/>
              </a:rPr>
              <a:t>전체 모듈</a:t>
            </a:r>
          </a:p>
        </p:txBody>
      </p:sp>
      <p:sp>
        <p:nvSpPr>
          <p:cNvPr id="20" name="C2Bg"/>
          <p:cNvSpPr/>
          <p:nvPr/>
        </p:nvSpPr>
        <p:spPr>
          <a:xfrm>
            <a:off x="2561520" y="1850000"/>
            <a:ext cx="1650000" cy="1900000"/>
          </a:xfrm>
          <a:prstGeom prst="rect">
            <a:avLst/>
          </a:prstGeom>
          <a:solidFill>
            <a:srgbClr val="162337"/>
          </a:solidFill>
          <a:ln w="6350">
            <a:solidFill>
              <a:srgbClr val="028090"/>
            </a:solidFill>
          </a:ln>
        </p:spPr>
      </p:sp>
      <p:sp>
        <p:nvSpPr>
          <p:cNvPr id="21" name="C2Num"/>
          <p:cNvSpPr/>
          <p:nvPr/>
        </p:nvSpPr>
        <p:spPr>
          <a:xfrm>
            <a:off x="2561520" y="2050000"/>
            <a:ext cx="165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</a:rPr>
              <a:t>7</a:t>
            </a:r>
          </a:p>
        </p:txBody>
      </p:sp>
      <p:sp>
        <p:nvSpPr>
          <p:cNvPr id="22" name="C2Lbl"/>
          <p:cNvSpPr/>
          <p:nvPr/>
        </p:nvSpPr>
        <p:spPr>
          <a:xfrm>
            <a:off x="2561520" y="2800000"/>
            <a:ext cx="16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200" dirty="0">
                <a:solidFill>
                  <a:srgbClr val="8BA4B8"/>
                </a:solidFill>
                <a:latin typeface="Calibri" pitchFamily="34" charset="0"/>
              </a:rPr>
              <a:t>완료</a:t>
            </a:r>
          </a:p>
        </p:txBody>
      </p:sp>
      <p:sp>
        <p:nvSpPr>
          <p:cNvPr id="30" name="C3Bg"/>
          <p:cNvSpPr/>
          <p:nvPr/>
        </p:nvSpPr>
        <p:spPr>
          <a:xfrm>
            <a:off x="4391520" y="1850000"/>
            <a:ext cx="1650000" cy="1900000"/>
          </a:xfrm>
          <a:prstGeom prst="rect">
            <a:avLst/>
          </a:prstGeom>
          <a:solidFill>
            <a:srgbClr val="0D2A1F"/>
          </a:solidFill>
          <a:ln w="12700">
            <a:solidFill>
              <a:srgbClr val="02C39A"/>
            </a:solidFill>
          </a:ln>
        </p:spPr>
      </p:sp>
      <p:sp>
        <p:nvSpPr>
          <p:cNvPr id="31" name="C3Num"/>
          <p:cNvSpPr/>
          <p:nvPr/>
        </p:nvSpPr>
        <p:spPr>
          <a:xfrm>
            <a:off x="4391520" y="2050000"/>
            <a:ext cx="165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2C39A"/>
                </a:solidFill>
                <a:latin typeface="Trebuchet MS" pitchFamily="34" charset="0"/>
              </a:rPr>
              <a:t>4</a:t>
            </a:r>
          </a:p>
        </p:txBody>
      </p:sp>
      <p:sp>
        <p:nvSpPr>
          <p:cNvPr id="32" name="C3Lbl"/>
          <p:cNvSpPr/>
          <p:nvPr/>
        </p:nvSpPr>
        <p:spPr>
          <a:xfrm>
            <a:off x="4391520" y="2800000"/>
            <a:ext cx="16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200" dirty="0">
                <a:solidFill>
                  <a:srgbClr val="02C39A"/>
                </a:solidFill>
                <a:latin typeface="Calibri" pitchFamily="34" charset="0"/>
              </a:rPr>
              <a:t>기능 설계 진행 중</a:t>
            </a:r>
          </a:p>
        </p:txBody>
      </p:sp>
      <p:sp>
        <p:nvSpPr>
          <p:cNvPr id="40" name="C4Bg"/>
          <p:cNvSpPr/>
          <p:nvPr/>
        </p:nvSpPr>
        <p:spPr>
          <a:xfrm>
            <a:off x="6221520" y="1850000"/>
            <a:ext cx="1650000" cy="1900000"/>
          </a:xfrm>
          <a:prstGeom prst="rect">
            <a:avLst/>
          </a:prstGeom>
          <a:solidFill>
            <a:srgbClr val="162337"/>
          </a:solidFill>
          <a:ln w="6350">
            <a:solidFill>
              <a:srgbClr val="028090"/>
            </a:solidFill>
          </a:ln>
        </p:spPr>
      </p:sp>
      <p:sp>
        <p:nvSpPr>
          <p:cNvPr id="41" name="C4Num"/>
          <p:cNvSpPr/>
          <p:nvPr/>
        </p:nvSpPr>
        <p:spPr>
          <a:xfrm>
            <a:off x="6221520" y="2050000"/>
            <a:ext cx="165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</a:rPr>
              <a:t>64%</a:t>
            </a:r>
          </a:p>
        </p:txBody>
      </p:sp>
      <p:sp>
        <p:nvSpPr>
          <p:cNvPr id="42" name="C4Lbl"/>
          <p:cNvSpPr/>
          <p:nvPr/>
        </p:nvSpPr>
        <p:spPr>
          <a:xfrm>
            <a:off x="6221520" y="2800000"/>
            <a:ext cx="16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200" dirty="0">
                <a:solidFill>
                  <a:srgbClr val="8BA4B8"/>
                </a:solidFill>
                <a:latin typeface="Calibri" pitchFamily="34" charset="0"/>
              </a:rPr>
              <a:t>전체 완료율</a:t>
            </a:r>
          </a:p>
        </p:txBody>
      </p:sp>
      <p:sp>
        <p:nvSpPr>
          <p:cNvPr id="50" name="Div"/>
          <p:cNvSpPr/>
          <p:nvPr/>
        </p:nvSpPr>
        <p:spPr>
          <a:xfrm>
            <a:off x="731520" y="3950000"/>
            <a:ext cx="7680960" cy="18000"/>
          </a:xfrm>
          <a:prstGeom prst="rect">
            <a:avLst/>
          </a:prstGeom>
          <a:solidFill>
            <a:srgbClr val="1C3A4A"/>
          </a:solidFill>
          <a:ln/>
        </p:spPr>
      </p:sp>
      <p:sp>
        <p:nvSpPr>
          <p:cNvPr id="51" name="DoneList"/>
          <p:cNvSpPr/>
          <p:nvPr/>
        </p:nvSpPr>
        <p:spPr>
          <a:xfrm>
            <a:off x="731520" y="4020000"/>
            <a:ext cx="768096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900" b="1" dirty="0">
                <a:solidFill>
                  <a:srgbClr val="8BA4B8"/>
                </a:solidFill>
                <a:latin typeface="Calibri" pitchFamily="34" charset="0"/>
              </a:rPr>
              <a:t>완료  ·  01 Web Automation  ·  02 GIS  ·  03 HWP  ·  04 PDF 통합  ·  05 파일점검  ·  07 실거래가  ·  08 세금계산서</a:t>
            </a:r>
          </a:p>
        </p:txBody>
      </p:sp>
      <p:sp>
        <p:nvSpPr>
          <p:cNvPr id="52" name="WipList"/>
          <p:cNvSpPr/>
          <p:nvPr/>
        </p:nvSpPr>
        <p:spPr>
          <a:xfrm>
            <a:off x="731520" y="4380000"/>
            <a:ext cx="768096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900" b="1" dirty="0">
                <a:solidFill>
                  <a:srgbClr val="02C39A"/>
                </a:solidFill>
                <a:latin typeface="Calibri" pitchFamily="34" charset="0"/>
              </a:rPr>
              <a:t>진행 중  ·  06 비목군 분류  ·  09 기상 수집  ·  10 </a:t>
            </a:r>
            <a:r>
              <a:rPr lang="ko-KR" sz="900" b="1" dirty="0" err="1">
                <a:solidFill>
                  <a:srgbClr val="02C39A"/>
                </a:solidFill>
                <a:latin typeface="Calibri" pitchFamily="34" charset="0"/>
              </a:rPr>
              <a:t>Claim</a:t>
            </a:r>
            <a:r>
              <a:rPr lang="ko-KR" sz="900" b="1" dirty="0">
                <a:solidFill>
                  <a:srgbClr val="02C39A"/>
                </a:solidFill>
                <a:latin typeface="Calibri" pitchFamily="34" charset="0"/>
              </a:rPr>
              <a:t> </a:t>
            </a:r>
            <a:r>
              <a:rPr lang="ko-KR" sz="900" b="1" dirty="0" err="1">
                <a:solidFill>
                  <a:srgbClr val="02C39A"/>
                </a:solidFill>
                <a:latin typeface="Calibri" pitchFamily="34" charset="0"/>
              </a:rPr>
              <a:t>Craft</a:t>
            </a:r>
            <a:r>
              <a:rPr lang="en-US" altLang="ko-KR" sz="900" b="1" dirty="0">
                <a:solidFill>
                  <a:srgbClr val="02C39A"/>
                </a:solidFill>
                <a:latin typeface="Calibri" pitchFamily="34" charset="0"/>
              </a:rPr>
              <a:t> </a:t>
            </a:r>
            <a:r>
              <a:rPr lang="ko-KR" altLang="ko-KR" sz="900" b="1" dirty="0">
                <a:solidFill>
                  <a:srgbClr val="02C39A"/>
                </a:solidFill>
                <a:latin typeface="Calibri" pitchFamily="34" charset="0"/>
              </a:rPr>
              <a:t>·  1</a:t>
            </a:r>
            <a:r>
              <a:rPr lang="en-US" altLang="ko-KR" sz="900" b="1" dirty="0">
                <a:solidFill>
                  <a:srgbClr val="02C39A"/>
                </a:solidFill>
                <a:latin typeface="Calibri" pitchFamily="34" charset="0"/>
              </a:rPr>
              <a:t>1 manhour aggregation</a:t>
            </a:r>
            <a:endParaRPr lang="ko-KR" sz="900" b="1" dirty="0">
              <a:solidFill>
                <a:srgbClr val="02C39A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731520" y="320040"/>
            <a:ext cx="2560320" cy="28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Label"/>
          <p:cNvSpPr/>
          <p:nvPr/>
        </p:nvSpPr>
        <p:spPr>
          <a:xfrm>
            <a:off x="731520" y="320040"/>
            <a:ext cx="2560320" cy="28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000" b="1" dirty="0">
                <a:solidFill>
                  <a:srgbClr val="FFFFFF"/>
                </a:solidFill>
                <a:latin typeface="Calibri" pitchFamily="34" charset="0"/>
              </a:rPr>
              <a:t>업무 자동화 진행 현황</a:t>
            </a:r>
          </a:p>
        </p:txBody>
      </p:sp>
      <p:sp>
        <p:nvSpPr>
          <p:cNvPr id="4" name="MTitle"/>
          <p:cNvSpPr/>
          <p:nvPr/>
        </p:nvSpPr>
        <p:spPr>
          <a:xfrm>
            <a:off x="731520" y="730000"/>
            <a:ext cx="77724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2800" b="1" dirty="0">
                <a:solidFill>
                  <a:srgbClr val="FFFFFF"/>
                </a:solidFill>
                <a:latin typeface="Trebuchet MS" pitchFamily="34" charset="0"/>
              </a:rPr>
              <a:t>진행 중 모듈 상세 (1/2)</a:t>
            </a:r>
          </a:p>
        </p:txBody>
      </p:sp>
      <p:sp>
        <p:nvSpPr>
          <p:cNvPr id="5" name="SubT"/>
          <p:cNvSpPr/>
          <p:nvPr/>
        </p:nvSpPr>
        <p:spPr>
          <a:xfrm>
            <a:off x="731520" y="1250000"/>
            <a:ext cx="731520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300" dirty="0">
                <a:solidFill>
                  <a:srgbClr val="8BA4B8"/>
                </a:solidFill>
                <a:latin typeface="Calibri" pitchFamily="34" charset="0"/>
              </a:rPr>
              <a:t>기능 설계 진행 중</a:t>
            </a:r>
          </a:p>
        </p:txBody>
      </p:sp>
      <p:sp>
        <p:nvSpPr>
          <p:cNvPr id="9" name="Badge"/>
          <p:cNvSpPr/>
          <p:nvPr/>
        </p:nvSpPr>
        <p:spPr>
          <a:xfrm>
            <a:off x="3500000" y="314293"/>
            <a:ext cx="900000" cy="270000"/>
          </a:xfrm>
          <a:prstGeom prst="rect">
            <a:avLst/>
          </a:prstGeom>
          <a:solidFill>
            <a:srgbClr val="0D2A1F"/>
          </a:solidFill>
          <a:ln w="9000">
            <a:solidFill>
              <a:srgbClr val="02C39A"/>
            </a:solidFill>
          </a:ln>
        </p:spPr>
        <p:txBody>
          <a:bodyPr wrap="square" lIns="60960" tIns="0" rIns="60960" bIns="0" rtlCol="0" anchor="ctr"/>
          <a:lstStyle/>
          <a:p>
            <a:pPr marL="0" indent="0" algn="ctr">
              <a:buNone/>
            </a:pPr>
            <a:r>
              <a:rPr lang="ko-KR" sz="900" b="1" dirty="0">
                <a:solidFill>
                  <a:srgbClr val="02C39A"/>
                </a:solidFill>
                <a:latin typeface="Calibri" pitchFamily="34" charset="0"/>
              </a:rPr>
              <a:t>기능 설계 중</a:t>
            </a:r>
          </a:p>
        </p:txBody>
      </p:sp>
      <p:sp>
        <p:nvSpPr>
          <p:cNvPr id="30" name="WipBg30"/>
          <p:cNvSpPr/>
          <p:nvPr/>
        </p:nvSpPr>
        <p:spPr>
          <a:xfrm>
            <a:off x="731520" y="1750000"/>
            <a:ext cx="7680960" cy="594360"/>
          </a:xfrm>
          <a:prstGeom prst="rect">
            <a:avLst/>
          </a:prstGeom>
          <a:solidFill>
            <a:srgbClr val="0D2A1F"/>
          </a:solidFill>
          <a:ln w="9000">
            <a:solidFill>
              <a:srgbClr val="02C39A"/>
            </a:solidFill>
          </a:ln>
        </p:spPr>
      </p:sp>
      <p:sp>
        <p:nvSpPr>
          <p:cNvPr id="31" name="WipCircle30"/>
          <p:cNvSpPr/>
          <p:nvPr/>
        </p:nvSpPr>
        <p:spPr>
          <a:xfrm>
            <a:off x="1005840" y="181847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WipTitle30"/>
          <p:cNvSpPr/>
          <p:nvPr/>
        </p:nvSpPr>
        <p:spPr>
          <a:xfrm>
            <a:off x="1691640" y="1793903"/>
            <a:ext cx="25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400" b="1" dirty="0">
                <a:solidFill>
                  <a:srgbClr val="02C39A"/>
                </a:solidFill>
                <a:latin typeface="Trebuchet MS" pitchFamily="34" charset="0"/>
              </a:rPr>
              <a:t>06  비목군 자동 분류</a:t>
            </a:r>
          </a:p>
        </p:txBody>
      </p:sp>
      <p:sp>
        <p:nvSpPr>
          <p:cNvPr id="33" name="WipDesc30"/>
          <p:cNvSpPr/>
          <p:nvPr/>
        </p:nvSpPr>
        <p:spPr>
          <a:xfrm>
            <a:off x="1691640" y="2068295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00" dirty="0">
                <a:solidFill>
                  <a:srgbClr val="02C39A"/>
                </a:solidFill>
                <a:latin typeface="Calibri" pitchFamily="34" charset="0"/>
              </a:rPr>
              <a:t>계약예규 제68조 기준 A~Z 그룹 자동 분류 · 표준시장단가 9,607개 코드 매칭 · v8.0 규칙 설계 중</a:t>
            </a:r>
          </a:p>
        </p:txBody>
      </p:sp>
      <p:sp>
        <p:nvSpPr>
          <p:cNvPr id="6" name="WipBg30">
            <a:extLst>
              <a:ext uri="{FF2B5EF4-FFF2-40B4-BE49-F238E27FC236}">
                <a16:creationId xmlns:a16="http://schemas.microsoft.com/office/drawing/2014/main" id="{6B6A13F4-9EC8-2224-F623-6D39A395E123}"/>
              </a:ext>
            </a:extLst>
          </p:cNvPr>
          <p:cNvSpPr/>
          <p:nvPr/>
        </p:nvSpPr>
        <p:spPr>
          <a:xfrm>
            <a:off x="731520" y="2571750"/>
            <a:ext cx="7680960" cy="594360"/>
          </a:xfrm>
          <a:prstGeom prst="rect">
            <a:avLst/>
          </a:prstGeom>
          <a:solidFill>
            <a:srgbClr val="0D2A1F"/>
          </a:solidFill>
          <a:ln w="9000">
            <a:solidFill>
              <a:srgbClr val="02C39A"/>
            </a:solidFill>
          </a:ln>
        </p:spPr>
      </p:sp>
      <p:sp>
        <p:nvSpPr>
          <p:cNvPr id="7" name="WipCircle30">
            <a:extLst>
              <a:ext uri="{FF2B5EF4-FFF2-40B4-BE49-F238E27FC236}">
                <a16:creationId xmlns:a16="http://schemas.microsoft.com/office/drawing/2014/main" id="{2C81DCD3-8507-0A5B-EEBB-B9426858A67F}"/>
              </a:ext>
            </a:extLst>
          </p:cNvPr>
          <p:cNvSpPr/>
          <p:nvPr/>
        </p:nvSpPr>
        <p:spPr>
          <a:xfrm>
            <a:off x="1005840" y="264022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WipTitle30">
            <a:extLst>
              <a:ext uri="{FF2B5EF4-FFF2-40B4-BE49-F238E27FC236}">
                <a16:creationId xmlns:a16="http://schemas.microsoft.com/office/drawing/2014/main" id="{5975C2E2-A0CD-5A50-628E-723C16C53E02}"/>
              </a:ext>
            </a:extLst>
          </p:cNvPr>
          <p:cNvSpPr/>
          <p:nvPr/>
        </p:nvSpPr>
        <p:spPr>
          <a:xfrm>
            <a:off x="1691640" y="2615653"/>
            <a:ext cx="62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400" b="1" dirty="0">
                <a:solidFill>
                  <a:srgbClr val="02C39A"/>
                </a:solidFill>
                <a:latin typeface="Trebuchet MS" pitchFamily="34" charset="0"/>
              </a:rPr>
              <a:t>09  기상 데이터 수집 &amp; 작업불가일 산정</a:t>
            </a:r>
          </a:p>
        </p:txBody>
      </p:sp>
      <p:sp>
        <p:nvSpPr>
          <p:cNvPr id="10" name="WipDesc30">
            <a:extLst>
              <a:ext uri="{FF2B5EF4-FFF2-40B4-BE49-F238E27FC236}">
                <a16:creationId xmlns:a16="http://schemas.microsoft.com/office/drawing/2014/main" id="{148D854F-4C79-6FFD-C303-D3D6C721A299}"/>
              </a:ext>
            </a:extLst>
          </p:cNvPr>
          <p:cNvSpPr/>
          <p:nvPr/>
        </p:nvSpPr>
        <p:spPr>
          <a:xfrm>
            <a:off x="1691640" y="2890045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00" dirty="0">
                <a:solidFill>
                  <a:srgbClr val="02C39A"/>
                </a:solidFill>
                <a:latin typeface="Calibri" pitchFamily="34" charset="0"/>
              </a:rPr>
              <a:t>ASOS 727개 관측소 최근접 탐색 · 12종 공사중지 플래그 · 공종별 작업불가일 산정 로직 설계 중</a:t>
            </a:r>
          </a:p>
        </p:txBody>
      </p:sp>
      <p:sp>
        <p:nvSpPr>
          <p:cNvPr id="11" name="WipBg40">
            <a:extLst>
              <a:ext uri="{FF2B5EF4-FFF2-40B4-BE49-F238E27FC236}">
                <a16:creationId xmlns:a16="http://schemas.microsoft.com/office/drawing/2014/main" id="{FDF9E987-7086-46F1-B527-4FA69569A937}"/>
              </a:ext>
            </a:extLst>
          </p:cNvPr>
          <p:cNvSpPr/>
          <p:nvPr/>
        </p:nvSpPr>
        <p:spPr>
          <a:xfrm>
            <a:off x="731520" y="3421750"/>
            <a:ext cx="7680960" cy="594360"/>
          </a:xfrm>
          <a:prstGeom prst="rect">
            <a:avLst/>
          </a:prstGeom>
          <a:solidFill>
            <a:srgbClr val="0D2A1F"/>
          </a:solidFill>
          <a:ln w="9000">
            <a:solidFill>
              <a:srgbClr val="02C39A"/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2" name="WipCircle40">
            <a:extLst>
              <a:ext uri="{FF2B5EF4-FFF2-40B4-BE49-F238E27FC236}">
                <a16:creationId xmlns:a16="http://schemas.microsoft.com/office/drawing/2014/main" id="{A03018AA-5BC4-A28E-AC5C-E1ADA24CE2BD}"/>
              </a:ext>
            </a:extLst>
          </p:cNvPr>
          <p:cNvSpPr/>
          <p:nvPr/>
        </p:nvSpPr>
        <p:spPr>
          <a:xfrm>
            <a:off x="1005840" y="349022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WipTitle40">
            <a:extLst>
              <a:ext uri="{FF2B5EF4-FFF2-40B4-BE49-F238E27FC236}">
                <a16:creationId xmlns:a16="http://schemas.microsoft.com/office/drawing/2014/main" id="{E161DD1E-9C42-D562-EB2F-C2E5796A9586}"/>
              </a:ext>
            </a:extLst>
          </p:cNvPr>
          <p:cNvSpPr/>
          <p:nvPr/>
        </p:nvSpPr>
        <p:spPr>
          <a:xfrm>
            <a:off x="1691640" y="3465653"/>
            <a:ext cx="25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400" b="1" dirty="0">
                <a:solidFill>
                  <a:srgbClr val="02C39A"/>
                </a:solidFill>
                <a:latin typeface="Trebuchet MS" pitchFamily="34" charset="0"/>
              </a:rPr>
              <a:t>10  Claim Craft</a:t>
            </a:r>
          </a:p>
        </p:txBody>
      </p:sp>
      <p:sp>
        <p:nvSpPr>
          <p:cNvPr id="14" name="WipDesc40">
            <a:extLst>
              <a:ext uri="{FF2B5EF4-FFF2-40B4-BE49-F238E27FC236}">
                <a16:creationId xmlns:a16="http://schemas.microsoft.com/office/drawing/2014/main" id="{3780A6B4-8409-F335-9DA0-BBA4003A9BB8}"/>
              </a:ext>
            </a:extLst>
          </p:cNvPr>
          <p:cNvSpPr/>
          <p:nvPr/>
        </p:nvSpPr>
        <p:spPr>
          <a:xfrm>
            <a:off x="1691640" y="3740045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02C39A"/>
                </a:solidFill>
                <a:latin typeface="Calibri" pitchFamily="34" charset="0"/>
              </a:rPr>
              <a:t>공기연장 간접비 보고서</a:t>
            </a:r>
            <a:r>
              <a:rPr lang="ko-KR" sz="1000" dirty="0">
                <a:solidFill>
                  <a:srgbClr val="02C39A"/>
                </a:solidFill>
                <a:latin typeface="Calibri" pitchFamily="34" charset="0"/>
              </a:rPr>
              <a:t> 관련 문서 자동 생성 · 반복 서류 작성 자동화 · 기능 설계 착수 단계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731520" y="320040"/>
            <a:ext cx="2560320" cy="28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Label"/>
          <p:cNvSpPr/>
          <p:nvPr/>
        </p:nvSpPr>
        <p:spPr>
          <a:xfrm>
            <a:off x="731520" y="320040"/>
            <a:ext cx="2560320" cy="28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000" b="1" dirty="0">
                <a:solidFill>
                  <a:srgbClr val="FFFFFF"/>
                </a:solidFill>
                <a:latin typeface="Calibri" pitchFamily="34" charset="0"/>
              </a:rPr>
              <a:t>업무 자동화 진행 현황</a:t>
            </a:r>
          </a:p>
        </p:txBody>
      </p:sp>
      <p:sp>
        <p:nvSpPr>
          <p:cNvPr id="4" name="MTitle"/>
          <p:cNvSpPr/>
          <p:nvPr/>
        </p:nvSpPr>
        <p:spPr>
          <a:xfrm>
            <a:off x="731520" y="730000"/>
            <a:ext cx="77724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2800" b="1" dirty="0">
                <a:solidFill>
                  <a:srgbClr val="FFFFFF"/>
                </a:solidFill>
                <a:latin typeface="Trebuchet MS" pitchFamily="34" charset="0"/>
              </a:rPr>
              <a:t>진행 중 모듈 상세 (2/2)</a:t>
            </a:r>
          </a:p>
        </p:txBody>
      </p:sp>
      <p:sp>
        <p:nvSpPr>
          <p:cNvPr id="5" name="SubT"/>
          <p:cNvSpPr/>
          <p:nvPr/>
        </p:nvSpPr>
        <p:spPr>
          <a:xfrm>
            <a:off x="731520" y="1250000"/>
            <a:ext cx="731520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1300" dirty="0">
                <a:solidFill>
                  <a:srgbClr val="8BA4B8"/>
                </a:solidFill>
                <a:latin typeface="Calibri" pitchFamily="34" charset="0"/>
              </a:rPr>
              <a:t>기능 설계 진행 중</a:t>
            </a:r>
            <a:r>
              <a:rPr lang="en-US" altLang="ko-KR" sz="1300" dirty="0">
                <a:solidFill>
                  <a:srgbClr val="8BA4B8"/>
                </a:solidFill>
                <a:latin typeface="Calibri" pitchFamily="34" charset="0"/>
              </a:rPr>
              <a:t> </a:t>
            </a:r>
            <a:r>
              <a:rPr lang="ko-KR" altLang="en-US" sz="1300" dirty="0">
                <a:solidFill>
                  <a:srgbClr val="8BA4B8"/>
                </a:solidFill>
                <a:latin typeface="Calibri" pitchFamily="34" charset="0"/>
              </a:rPr>
              <a:t>및 계획</a:t>
            </a:r>
            <a:endParaRPr lang="ko-KR" sz="1300" dirty="0">
              <a:solidFill>
                <a:srgbClr val="8BA4B8"/>
              </a:solidFill>
              <a:latin typeface="Calibri" pitchFamily="34" charset="0"/>
            </a:endParaRPr>
          </a:p>
        </p:txBody>
      </p:sp>
      <p:sp>
        <p:nvSpPr>
          <p:cNvPr id="9" name="Badge"/>
          <p:cNvSpPr/>
          <p:nvPr/>
        </p:nvSpPr>
        <p:spPr>
          <a:xfrm>
            <a:off x="3489120" y="320040"/>
            <a:ext cx="900000" cy="270000"/>
          </a:xfrm>
          <a:prstGeom prst="rect">
            <a:avLst/>
          </a:prstGeom>
          <a:solidFill>
            <a:srgbClr val="0D2A1F"/>
          </a:solidFill>
          <a:ln w="9000">
            <a:solidFill>
              <a:srgbClr val="02C39A"/>
            </a:solidFill>
          </a:ln>
        </p:spPr>
        <p:txBody>
          <a:bodyPr wrap="square" lIns="60960" tIns="0" rIns="60960" bIns="0" rtlCol="0" anchor="ctr"/>
          <a:lstStyle/>
          <a:p>
            <a:pPr marL="0" indent="0" algn="ctr">
              <a:buNone/>
            </a:pPr>
            <a:r>
              <a:rPr lang="ko-KR" sz="900" b="1" dirty="0">
                <a:solidFill>
                  <a:srgbClr val="02C39A"/>
                </a:solidFill>
                <a:latin typeface="Calibri" pitchFamily="34" charset="0"/>
              </a:rPr>
              <a:t>기능 설계 중</a:t>
            </a:r>
          </a:p>
        </p:txBody>
      </p:sp>
      <p:sp>
        <p:nvSpPr>
          <p:cNvPr id="30" name="WipBg30"/>
          <p:cNvSpPr/>
          <p:nvPr/>
        </p:nvSpPr>
        <p:spPr>
          <a:xfrm>
            <a:off x="731520" y="1750000"/>
            <a:ext cx="7680960" cy="594360"/>
          </a:xfrm>
          <a:prstGeom prst="rect">
            <a:avLst/>
          </a:prstGeom>
          <a:solidFill>
            <a:srgbClr val="0D2A1F"/>
          </a:solidFill>
          <a:ln w="9000">
            <a:solidFill>
              <a:srgbClr val="02C39A"/>
            </a:solidFill>
          </a:ln>
        </p:spPr>
      </p:sp>
      <p:sp>
        <p:nvSpPr>
          <p:cNvPr id="31" name="WipCircle30"/>
          <p:cNvSpPr/>
          <p:nvPr/>
        </p:nvSpPr>
        <p:spPr>
          <a:xfrm>
            <a:off x="1005840" y="181847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WipTitle30"/>
          <p:cNvSpPr/>
          <p:nvPr/>
        </p:nvSpPr>
        <p:spPr>
          <a:xfrm>
            <a:off x="1691640" y="1793903"/>
            <a:ext cx="62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400" b="1" dirty="0">
                <a:solidFill>
                  <a:srgbClr val="02C39A"/>
                </a:solidFill>
                <a:latin typeface="Trebuchet MS" pitchFamily="34" charset="0"/>
              </a:rPr>
              <a:t>11 manhour aggregation</a:t>
            </a:r>
            <a:endParaRPr lang="ko-KR" sz="1400" b="1" dirty="0">
              <a:solidFill>
                <a:srgbClr val="02C39A"/>
              </a:solidFill>
              <a:latin typeface="Trebuchet MS" pitchFamily="34" charset="0"/>
            </a:endParaRPr>
          </a:p>
        </p:txBody>
      </p:sp>
      <p:sp>
        <p:nvSpPr>
          <p:cNvPr id="33" name="WipDesc30"/>
          <p:cNvSpPr/>
          <p:nvPr/>
        </p:nvSpPr>
        <p:spPr>
          <a:xfrm>
            <a:off x="1691640" y="2068295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02C39A"/>
                </a:solidFill>
                <a:latin typeface="Calibri" pitchFamily="34" charset="0"/>
              </a:rPr>
              <a:t>노무비 지급 명세서 </a:t>
            </a:r>
            <a:r>
              <a:rPr lang="ko-KR" altLang="ko-KR" sz="1000" dirty="0">
                <a:solidFill>
                  <a:srgbClr val="02C39A"/>
                </a:solidFill>
                <a:latin typeface="Calibri" pitchFamily="34" charset="0"/>
              </a:rPr>
              <a:t>· </a:t>
            </a:r>
            <a:r>
              <a:rPr lang="ko-KR" altLang="en-US" sz="1000" dirty="0">
                <a:solidFill>
                  <a:srgbClr val="02C39A"/>
                </a:solidFill>
                <a:latin typeface="Calibri" pitchFamily="34" charset="0"/>
              </a:rPr>
              <a:t>공수집계 </a:t>
            </a:r>
            <a:r>
              <a:rPr lang="ko-KR" altLang="ko-KR" sz="1000" dirty="0">
                <a:solidFill>
                  <a:srgbClr val="02C39A"/>
                </a:solidFill>
                <a:latin typeface="Calibri" pitchFamily="34" charset="0"/>
              </a:rPr>
              <a:t>반복 작성 자동화 · 기능 설계 착수 단계</a:t>
            </a:r>
          </a:p>
        </p:txBody>
      </p:sp>
      <p:sp>
        <p:nvSpPr>
          <p:cNvPr id="50" name="RowBg50"/>
          <p:cNvSpPr/>
          <p:nvPr/>
        </p:nvSpPr>
        <p:spPr>
          <a:xfrm>
            <a:off x="731520" y="2570433"/>
            <a:ext cx="7680960" cy="594360"/>
          </a:xfrm>
          <a:prstGeom prst="rect">
            <a:avLst/>
          </a:prstGeom>
          <a:solidFill>
            <a:srgbClr val="162337"/>
          </a:solidFill>
          <a:ln w="6350">
            <a:solidFill>
              <a:srgbClr val="028090"/>
            </a:solidFill>
          </a:ln>
        </p:spPr>
      </p:sp>
      <p:sp>
        <p:nvSpPr>
          <p:cNvPr id="51" name="Circle50"/>
          <p:cNvSpPr/>
          <p:nvPr/>
        </p:nvSpPr>
        <p:spPr>
          <a:xfrm>
            <a:off x="1005840" y="2638905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2" name="RowTitle50"/>
          <p:cNvSpPr/>
          <p:nvPr/>
        </p:nvSpPr>
        <p:spPr>
          <a:xfrm>
            <a:off x="1691640" y="2614336"/>
            <a:ext cx="25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400" b="1" dirty="0">
                <a:solidFill>
                  <a:srgbClr val="FFFFFF"/>
                </a:solidFill>
                <a:latin typeface="Trebuchet MS" pitchFamily="34" charset="0"/>
              </a:rPr>
              <a:t>향후 계획</a:t>
            </a:r>
          </a:p>
        </p:txBody>
      </p:sp>
      <p:sp>
        <p:nvSpPr>
          <p:cNvPr id="53" name="RowDesc50"/>
          <p:cNvSpPr/>
          <p:nvPr/>
        </p:nvSpPr>
        <p:spPr>
          <a:xfrm>
            <a:off x="1691640" y="28887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8BA4B8"/>
                </a:solidFill>
                <a:latin typeface="Calibri" pitchFamily="34" charset="0"/>
              </a:rPr>
              <a:t>기능 </a:t>
            </a:r>
            <a:r>
              <a:rPr lang="ko-KR" sz="1000" dirty="0">
                <a:solidFill>
                  <a:srgbClr val="8BA4B8"/>
                </a:solidFill>
                <a:latin typeface="Calibri" pitchFamily="34" charset="0"/>
              </a:rPr>
              <a:t>설계</a:t>
            </a:r>
            <a:r>
              <a:rPr lang="en-US" altLang="ko-KR" sz="1000" dirty="0">
                <a:solidFill>
                  <a:srgbClr val="8BA4B8"/>
                </a:solidFill>
                <a:latin typeface="Calibri" pitchFamily="34" charset="0"/>
              </a:rPr>
              <a:t> </a:t>
            </a:r>
            <a:r>
              <a:rPr lang="ko-KR" altLang="en-US" sz="1000" dirty="0">
                <a:solidFill>
                  <a:srgbClr val="8BA4B8"/>
                </a:solidFill>
                <a:latin typeface="Calibri" pitchFamily="34" charset="0"/>
              </a:rPr>
              <a:t>착수 단계 작업</a:t>
            </a:r>
            <a:r>
              <a:rPr lang="ko-KR" sz="1000" dirty="0">
                <a:solidFill>
                  <a:srgbClr val="8BA4B8"/>
                </a:solidFill>
                <a:latin typeface="Calibri" pitchFamily="34" charset="0"/>
              </a:rPr>
              <a:t> 완료 후 코딩 착수 · </a:t>
            </a:r>
            <a:r>
              <a:rPr lang="ko-KR" altLang="en-US" sz="1000" dirty="0">
                <a:solidFill>
                  <a:srgbClr val="8BA4B8"/>
                </a:solidFill>
                <a:latin typeface="Calibri" pitchFamily="34" charset="0"/>
              </a:rPr>
              <a:t>자동화</a:t>
            </a:r>
            <a:endParaRPr lang="ko-KR" sz="1000" dirty="0">
              <a:solidFill>
                <a:srgbClr val="8BA4B8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자동화로 업무 효율을 극대화하세요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37160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반복적인 수작업을 제거하고, 더 중요한 업무에 집중할 수 있습니다.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4320" y="3063240"/>
            <a:ext cx="1280160" cy="1234440"/>
          </a:xfrm>
          <a:prstGeom prst="rect">
            <a:avLst/>
          </a:prstGeom>
          <a:solidFill>
            <a:srgbClr val="16233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31089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" y="3703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크롭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변환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737360" y="3063240"/>
            <a:ext cx="1280160" cy="1234440"/>
          </a:xfrm>
          <a:prstGeom prst="rect">
            <a:avLst/>
          </a:prstGeom>
          <a:solidFill>
            <a:srgbClr val="16233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37360" y="31089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한글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누름틀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737360" y="3703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입력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00400" y="3063240"/>
            <a:ext cx="1280160" cy="1234440"/>
          </a:xfrm>
          <a:prstGeom prst="rect">
            <a:avLst/>
          </a:prstGeom>
          <a:solidFill>
            <a:srgbClr val="16233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0" y="31089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갑지 &amp;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 통합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00400" y="3703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표지 생성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병합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663440" y="3063240"/>
            <a:ext cx="1280160" cy="1234440"/>
          </a:xfrm>
          <a:prstGeom prst="rect">
            <a:avLst/>
          </a:prstGeom>
          <a:solidFill>
            <a:srgbClr val="16233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63440" y="31089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파일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점검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663440" y="3703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손상 점검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126480" y="3063240"/>
            <a:ext cx="1280160" cy="1234440"/>
          </a:xfrm>
          <a:prstGeom prst="rect">
            <a:avLst/>
          </a:prstGeom>
          <a:solidFill>
            <a:srgbClr val="16233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26480" y="31089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실거래가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126480" y="3703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10년치 수집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589520" y="3063240"/>
            <a:ext cx="1280160" cy="1234440"/>
          </a:xfrm>
          <a:prstGeom prst="rect">
            <a:avLst/>
          </a:prstGeom>
          <a:solidFill>
            <a:srgbClr val="16233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89520" y="31089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세금계산서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추출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589520" y="3703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엑셀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8B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입력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74320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감사합니다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940</Words>
  <Application>Microsoft Office PowerPoint</Application>
  <PresentationFormat>화면 슬라이드 쇼(16:9)</PresentationFormat>
  <Paragraphs>204</Paragraphs>
  <Slides>12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자동화 솔루션 소개</dc:title>
  <dc:subject>PptxGenJS Presentation</dc:subject>
  <dc:creator>Automation Team</dc:creator>
  <cp:lastModifiedBy>CT Group</cp:lastModifiedBy>
  <cp:revision>27</cp:revision>
  <dcterms:created xsi:type="dcterms:W3CDTF">2026-03-23T02:33:31Z</dcterms:created>
  <dcterms:modified xsi:type="dcterms:W3CDTF">2026-03-27T06:58:02Z</dcterms:modified>
</cp:coreProperties>
</file>